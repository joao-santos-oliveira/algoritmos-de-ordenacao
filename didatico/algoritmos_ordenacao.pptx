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9"/>
  </p:notesMasterIdLst>
  <p:handoutMasterIdLst>
    <p:handoutMasterId r:id="rId40"/>
  </p:handoutMasterIdLst>
  <p:sldIdLst>
    <p:sldId id="256" r:id="rId3"/>
    <p:sldId id="257" r:id="rId4"/>
    <p:sldId id="258" r:id="rId5"/>
    <p:sldId id="271" r:id="rId6"/>
    <p:sldId id="272" r:id="rId7"/>
    <p:sldId id="259" r:id="rId8"/>
    <p:sldId id="260" r:id="rId9"/>
    <p:sldId id="278" r:id="rId10"/>
    <p:sldId id="291" r:id="rId11"/>
    <p:sldId id="281" r:id="rId12"/>
    <p:sldId id="296" r:id="rId13"/>
    <p:sldId id="284" r:id="rId14"/>
    <p:sldId id="273" r:id="rId15"/>
    <p:sldId id="276" r:id="rId16"/>
    <p:sldId id="261" r:id="rId17"/>
    <p:sldId id="262" r:id="rId18"/>
    <p:sldId id="279" r:id="rId19"/>
    <p:sldId id="289" r:id="rId20"/>
    <p:sldId id="282" r:id="rId21"/>
    <p:sldId id="295" r:id="rId22"/>
    <p:sldId id="285" r:id="rId23"/>
    <p:sldId id="275" r:id="rId24"/>
    <p:sldId id="270" r:id="rId25"/>
    <p:sldId id="264" r:id="rId26"/>
    <p:sldId id="277" r:id="rId27"/>
    <p:sldId id="280" r:id="rId28"/>
    <p:sldId id="290" r:id="rId29"/>
    <p:sldId id="283" r:id="rId30"/>
    <p:sldId id="297" r:id="rId31"/>
    <p:sldId id="286" r:id="rId32"/>
    <p:sldId id="266" r:id="rId33"/>
    <p:sldId id="287" r:id="rId34"/>
    <p:sldId id="293" r:id="rId35"/>
    <p:sldId id="288" r:id="rId36"/>
    <p:sldId id="267" r:id="rId37"/>
    <p:sldId id="268" r:id="rId38"/>
  </p:sldIdLst>
  <p:sldSz cx="9144000" cy="5143500" type="screen16x9"/>
  <p:notesSz cx="51435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B2E40"/>
    <a:srgbClr val="B2BEC5"/>
    <a:srgbClr val="FF6B35"/>
    <a:srgbClr val="E0F2FE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1E787-C840-479B-BB43-7D654811C933}" v="137" dt="2026-05-16T20:52:56.337"/>
    <p1510:client id="{D2C78A19-AE96-4107-BE6C-50F9E35C093F}" v="119" dt="2026-05-16T20:46:58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title>
      <c:tx>
        <c:rich>
          <a:bodyPr rot="0"/>
          <a:lstStyle/>
          <a:p>
            <a:pPr>
              <a:defRPr sz="1100" b="0" strike="noStrike" spc="-1">
                <a:solidFill>
                  <a:srgbClr val="1B2E40"/>
                </a:solidFill>
                <a:latin typeface="Arial"/>
              </a:defRPr>
            </a:pPr>
            <a:r>
              <a:rPr lang="pt-BR" sz="1100" b="0" strike="noStrike" spc="-1">
                <a:solidFill>
                  <a:srgbClr val="1B2E40"/>
                </a:solidFill>
                <a:latin typeface="Arial"/>
              </a:rPr>
              <a:t>Pior Caso Relativo (1 = O(n log n), 2 = O(n²))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Pior Caso</c:v>
                </c:pt>
              </c:strCache>
            </c:strRef>
          </c:tx>
          <c:spPr>
            <a:solidFill>
              <a:srgbClr val="FF6B35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90-408E-BF20-7B40C26724F7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FB90-408E-BF20-7B40C26724F7}"/>
              </c:ext>
            </c:extLst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FB90-408E-BF20-7B40C26724F7}"/>
              </c:ext>
            </c:extLst>
          </c:dPt>
          <c:dPt>
            <c:idx val="3"/>
            <c:invertIfNegative val="0"/>
            <c:bubble3D val="0"/>
            <c:spPr>
              <a:solidFill>
                <a:srgbClr val="1B2E4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FB90-408E-BF20-7B40C26724F7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pt-BR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B90-408E-BF20-7B40C26724F7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pt-BR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90-408E-BF20-7B40C26724F7}"/>
                </c:ext>
              </c:extLst>
            </c:dLbl>
            <c:dLbl>
              <c:idx val="2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pt-BR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90-408E-BF20-7B40C26724F7}"/>
                </c:ext>
              </c:extLst>
            </c:dLbl>
            <c:dLbl>
              <c:idx val="3"/>
              <c:spPr/>
              <c:txPr>
                <a:bodyPr wrap="squar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Calibri"/>
                    </a:defRPr>
                  </a:pPr>
                  <a:endParaRPr lang="pt-BR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90-408E-BF20-7B40C26724F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Calibri"/>
                  </a:defRPr>
                </a:pPr>
                <a:endParaRPr lang="pt-BR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Quicksort</c:v>
                </c:pt>
                <c:pt idx="1">
                  <c:v>Mergesort</c:v>
                </c:pt>
                <c:pt idx="2">
                  <c:v>Heapsort</c:v>
                </c:pt>
                <c:pt idx="3">
                  <c:v>Introsort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90-408E-BF20-7B40C26724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5040294"/>
        <c:axId val="67056952"/>
      </c:barChart>
      <c:catAx>
        <c:axId val="450402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strike="noStrike" spc="-1">
                <a:solidFill>
                  <a:srgbClr val="334155"/>
                </a:solidFill>
                <a:latin typeface="Arial"/>
              </a:defRPr>
            </a:pPr>
            <a:endParaRPr lang="pt-BR"/>
          </a:p>
        </c:txPr>
        <c:crossAx val="67056952"/>
        <c:crosses val="autoZero"/>
        <c:auto val="1"/>
        <c:lblAlgn val="ctr"/>
        <c:lblOffset val="100"/>
        <c:noMultiLvlLbl val="0"/>
      </c:catAx>
      <c:valAx>
        <c:axId val="67056952"/>
        <c:scaling>
          <c:orientation val="minMax"/>
        </c:scaling>
        <c:delete val="0"/>
        <c:axPos val="l"/>
        <c:majorGridlines>
          <c:spPr>
            <a:ln w="6480">
              <a:solidFill>
                <a:srgbClr val="CBD5E1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strike="noStrike" spc="-1">
                <a:solidFill>
                  <a:srgbClr val="334155"/>
                </a:solidFill>
                <a:latin typeface="Arial"/>
              </a:defRPr>
            </a:pPr>
            <a:endParaRPr lang="pt-BR"/>
          </a:p>
        </c:txPr>
        <c:crossAx val="4504029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0F7FF"/>
    </a:solidFill>
    <a:ln w="0">
      <a:noFill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F545-CF75-4DF7-82C5-CCF07852E735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E7927-941C-443C-AC00-BF89FD01C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511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Clique para mover o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D2471B5-1BBB-4004-9C06-1753A531591C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571A0A-3B78-403E-BCE5-1204213C4B7A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3ABC59C-A2E3-42B7-8740-5261FE8EC160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DDD89F-25EF-435B-A0FA-76B0673C804F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649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6153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9E88BDE-27DC-44E0-9961-13559B16DD93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34E587-43AD-4852-8342-C60E4B06C2A1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E4B4F-F947-4AF9-980C-AEC2BA410C91}" type="slidenum">
              <a:rPr kumimoji="0" lang="en-US" sz="1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5209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999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913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E048C67-B066-4B7B-9C11-CDB269B4A259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849882-B7B7-4F62-9110-38D3602C7E9C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19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77598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21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8700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402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88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3A4B3F5-70B1-4496-A8A4-5D0CF7F7D6F4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24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925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28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75490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30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7688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FFFA3C-B925-46A1-978D-EEE0498A5B2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32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53306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FD2471B5-1BBB-4004-9C06-1753A531591C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34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4749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B3760A-FE67-46A6-B0AB-B92E4A23F3CE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7C0FEFE-8C1F-4043-BE49-769524480CF3}" type="slidenum">
              <a:rPr lang="en-US" sz="1800" b="0" strike="noStrike" spc="-1">
                <a:solidFill>
                  <a:schemeClr val="dk1"/>
                </a:solidFill>
                <a:latin typeface="+mn-lt"/>
                <a:ea typeface="+mn-ea"/>
              </a:rPr>
              <a:t>36</a:t>
            </a:fld>
            <a:endParaRPr lang="pt-BR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57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chemeClr val="dk1"/>
                </a:solidFill>
                <a:latin typeface="Calibri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chemeClr val="dk1"/>
                </a:solidFill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chemeClr val="dk1"/>
                </a:solidFill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4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061220"/>
          </a:solidFill>
          <a:ln w="12700">
            <a:solidFill>
              <a:srgbClr val="06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6858000" y="0"/>
            <a:ext cx="4536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7132320" y="274320"/>
            <a:ext cx="1645560" cy="164556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7498080" y="2286000"/>
            <a:ext cx="914040" cy="91404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502920" y="1280160"/>
            <a:ext cx="2194200" cy="319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502920" y="12801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97">
                <a:solidFill>
                  <a:srgbClr val="0D1B2A"/>
                </a:solidFill>
                <a:latin typeface="Calibri"/>
              </a:rPr>
              <a:t>ALGORITMOS DE ORDENAÇÃO</a:t>
            </a:r>
            <a:endParaRPr lang="pt-BR" sz="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1737360"/>
            <a:ext cx="621756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FFFFFF"/>
                </a:solidFill>
                <a:latin typeface="Calibri"/>
                <a:ea typeface="Calibri"/>
              </a:rPr>
              <a:t>Counting Sort</a:t>
            </a:r>
            <a:endParaRPr lang="pt-BR" sz="4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FFFFFF"/>
                </a:solidFill>
                <a:latin typeface="Calibri"/>
                <a:ea typeface="Calibri"/>
              </a:rPr>
              <a:t>Radix Sort</a:t>
            </a:r>
            <a:endParaRPr lang="pt-BR" sz="4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FFFFFF"/>
                </a:solidFill>
                <a:latin typeface="Calibri"/>
                <a:ea typeface="Calibri"/>
              </a:rPr>
              <a:t>Introsort</a:t>
            </a:r>
            <a:endParaRPr lang="pt-BR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502920" y="3840480"/>
            <a:ext cx="3200400" cy="360"/>
          </a:xfrm>
          <a:prstGeom prst="line">
            <a:avLst/>
          </a:prstGeom>
          <a:ln w="254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02920" y="397764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strike="noStrike" spc="-1">
                <a:solidFill>
                  <a:srgbClr val="90E0EF"/>
                </a:solidFill>
                <a:latin typeface="Calibri"/>
                <a:ea typeface="Calibri"/>
              </a:rPr>
              <a:t>Algoritmos e Estruturas de Dados ·  Engenharia da Computação · CEFET-MG</a:t>
            </a:r>
            <a:br>
              <a:rPr sz="1300"/>
            </a:br>
            <a:r>
              <a:rPr lang="en-US" sz="1300" b="0" strike="noStrike" spc="-1">
                <a:solidFill>
                  <a:srgbClr val="90E0EF"/>
                </a:solidFill>
                <a:latin typeface="Calibri"/>
                <a:ea typeface="Calibri"/>
              </a:rPr>
              <a:t>Professor Michel Pires da Silva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1</a:t>
            </a:r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EQUIPE</a:t>
            </a:r>
            <a:endParaRPr lang="pt-BR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365760" y="7207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Calibri"/>
                <a:ea typeface="Calibri"/>
              </a:rPr>
              <a:t>Integrantes do Grupo</a:t>
            </a:r>
            <a:endParaRPr lang="pt-BR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365760" y="745200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320040" y="1463040"/>
            <a:ext cx="4160160" cy="164556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320040" y="1463040"/>
            <a:ext cx="416016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Image 0"/>
          <p:cNvSpPr/>
          <p:nvPr/>
        </p:nvSpPr>
        <p:spPr>
          <a:xfrm>
            <a:off x="457200" y="1618560"/>
            <a:ext cx="1298160" cy="129816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1892880" y="17830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Carlos Daniel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Barbosa Silveira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4069080" y="1554480"/>
            <a:ext cx="292320" cy="292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4069080" y="1554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B2A"/>
                </a:solidFill>
                <a:latin typeface="Calibri"/>
              </a:rPr>
              <a:t>1</a:t>
            </a:r>
            <a:endParaRPr lang="pt-BR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4754880" y="1463040"/>
            <a:ext cx="4160160" cy="164556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4754880" y="1463040"/>
            <a:ext cx="416016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Image 1"/>
          <p:cNvSpPr/>
          <p:nvPr/>
        </p:nvSpPr>
        <p:spPr>
          <a:xfrm>
            <a:off x="4892040" y="1618560"/>
            <a:ext cx="1298160" cy="129816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6327720" y="178308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Alisson Henrique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Gomes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8503920" y="1554480"/>
            <a:ext cx="292320" cy="292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8503920" y="1554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B2A"/>
                </a:solidFill>
                <a:latin typeface="Calibri"/>
              </a:rPr>
              <a:t>2</a:t>
            </a:r>
            <a:endParaRPr lang="pt-BR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320040" y="3273480"/>
            <a:ext cx="4160160" cy="164556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320040" y="3273480"/>
            <a:ext cx="416016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Image 2"/>
          <p:cNvSpPr/>
          <p:nvPr/>
        </p:nvSpPr>
        <p:spPr>
          <a:xfrm>
            <a:off x="457200" y="3429000"/>
            <a:ext cx="1298160" cy="129816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1892880" y="359352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João Pedro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Ribeiro Santos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4069080" y="3364920"/>
            <a:ext cx="292320" cy="292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4069080" y="33649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B2A"/>
                </a:solidFill>
                <a:latin typeface="Calibri"/>
              </a:rPr>
              <a:t>3</a:t>
            </a:r>
            <a:endParaRPr lang="pt-BR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4754880" y="3273480"/>
            <a:ext cx="4160160" cy="164556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4754880" y="3273480"/>
            <a:ext cx="416016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Image 3"/>
          <p:cNvSpPr/>
          <p:nvPr/>
        </p:nvSpPr>
        <p:spPr>
          <a:xfrm>
            <a:off x="4892040" y="3429000"/>
            <a:ext cx="1298160" cy="1298160"/>
          </a:xfrm>
          <a:prstGeom prst="ellipse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327720" y="359352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João Gabriel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FFFFF"/>
                </a:solidFill>
                <a:latin typeface="Calibri"/>
                <a:ea typeface="Calibri"/>
              </a:rPr>
              <a:t>Santos Oliveira</a:t>
            </a:r>
            <a:endParaRPr lang="pt-BR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8503920" y="3364920"/>
            <a:ext cx="292320" cy="292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8503920" y="33649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B2A"/>
                </a:solidFill>
                <a:latin typeface="Calibri"/>
              </a:rPr>
              <a:t>4</a:t>
            </a:r>
            <a:endParaRPr lang="pt-BR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2</a:t>
            </a:r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INTRODUÇÃO</a:t>
            </a:r>
            <a:endParaRPr lang="pt-BR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365760" y="52128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0D1B2A"/>
                </a:solidFill>
                <a:latin typeface="Book Antiqua"/>
                <a:ea typeface="Calibri"/>
              </a:rPr>
              <a:t>O que </a:t>
            </a:r>
            <a:r>
              <a:rPr lang="en-US" sz="3200" b="1" strike="noStrike" spc="-1" err="1">
                <a:solidFill>
                  <a:srgbClr val="0D1B2A"/>
                </a:solidFill>
                <a:latin typeface="Book Antiqua"/>
                <a:ea typeface="Calibri"/>
              </a:rPr>
              <a:t>são</a:t>
            </a:r>
            <a:r>
              <a:rPr lang="en-US" sz="3200" b="1" strike="noStrike" spc="-1">
                <a:solidFill>
                  <a:srgbClr val="0D1B2A"/>
                </a:solidFill>
                <a:latin typeface="Book Antiqua"/>
                <a:ea typeface="Calibri"/>
              </a:rPr>
              <a:t> </a:t>
            </a:r>
            <a:r>
              <a:rPr lang="en-US" sz="3200" b="1" strike="noStrike" spc="-1" err="1">
                <a:solidFill>
                  <a:srgbClr val="0D1B2A"/>
                </a:solidFill>
                <a:latin typeface="Book Antiqua"/>
                <a:ea typeface="Calibri"/>
              </a:rPr>
              <a:t>Algoritmos</a:t>
            </a:r>
            <a:r>
              <a:rPr lang="en-US" sz="3200" b="1" strike="noStrike" spc="-1">
                <a:solidFill>
                  <a:srgbClr val="0D1B2A"/>
                </a:solidFill>
                <a:latin typeface="Book Antiqua"/>
                <a:ea typeface="Calibri"/>
              </a:rPr>
              <a:t> de </a:t>
            </a:r>
            <a:r>
              <a:rPr lang="en-US" sz="3200" b="1" strike="noStrike" spc="-1" err="1">
                <a:solidFill>
                  <a:srgbClr val="0D1B2A"/>
                </a:solidFill>
                <a:latin typeface="Book Antiqua"/>
                <a:ea typeface="Calibri"/>
              </a:rPr>
              <a:t>Ordenação</a:t>
            </a:r>
            <a:r>
              <a:rPr lang="en-US" sz="3200" b="1" strike="noStrike" spc="-1">
                <a:solidFill>
                  <a:srgbClr val="0D1B2A"/>
                </a:solidFill>
                <a:latin typeface="Book Antiqua"/>
                <a:ea typeface="Calibri"/>
              </a:rPr>
              <a:t>?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" name="Grupo 21"/>
          <p:cNvGrpSpPr/>
          <p:nvPr/>
        </p:nvGrpSpPr>
        <p:grpSpPr>
          <a:xfrm>
            <a:off x="356627" y="1195560"/>
            <a:ext cx="8421613" cy="3492720"/>
            <a:chOff x="356627" y="1195560"/>
            <a:chExt cx="8421613" cy="3492720"/>
          </a:xfrm>
        </p:grpSpPr>
        <p:sp>
          <p:nvSpPr>
            <p:cNvPr id="85" name="Shape 3"/>
            <p:cNvSpPr/>
            <p:nvPr/>
          </p:nvSpPr>
          <p:spPr>
            <a:xfrm>
              <a:off x="365760" y="1195560"/>
              <a:ext cx="8412480" cy="360"/>
            </a:xfrm>
            <a:prstGeom prst="line">
              <a:avLst/>
            </a:prstGeom>
            <a:ln w="19050">
              <a:solidFill>
                <a:srgbClr val="0096C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Shape 4"/>
            <p:cNvSpPr/>
            <p:nvPr/>
          </p:nvSpPr>
          <p:spPr>
            <a:xfrm>
              <a:off x="365760" y="1305360"/>
              <a:ext cx="3931560" cy="1645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Shape 5"/>
            <p:cNvSpPr/>
            <p:nvPr/>
          </p:nvSpPr>
          <p:spPr>
            <a:xfrm>
              <a:off x="365760" y="1305360"/>
              <a:ext cx="3931560" cy="63720"/>
            </a:xfrm>
            <a:prstGeom prst="rect">
              <a:avLst/>
            </a:prstGeom>
            <a:solidFill>
              <a:srgbClr val="1B2E40"/>
            </a:solidFill>
            <a:ln w="12700">
              <a:solidFill>
                <a:srgbClr val="1B2E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8" name="Text 6"/>
            <p:cNvSpPr/>
            <p:nvPr/>
          </p:nvSpPr>
          <p:spPr>
            <a:xfrm>
              <a:off x="502920" y="1415160"/>
              <a:ext cx="36572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Definição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Text 7"/>
            <p:cNvSpPr/>
            <p:nvPr/>
          </p:nvSpPr>
          <p:spPr>
            <a:xfrm>
              <a:off x="356627" y="1682373"/>
              <a:ext cx="3931560" cy="109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Procedimentos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que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reorganizam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elementos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uma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sequência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segundo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um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critério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definido</a:t>
              </a:r>
              <a:endParaRPr lang="en-US" sz="1400" b="0" strike="noStrike" spc="-1">
                <a:solidFill>
                  <a:srgbClr val="1B2E40"/>
                </a:solidFill>
                <a:latin typeface="Calibri"/>
                <a:ea typeface="Calibri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Fundamentais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busca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,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compressão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,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bancos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de dados e IA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Shape 8"/>
            <p:cNvSpPr/>
            <p:nvPr/>
          </p:nvSpPr>
          <p:spPr>
            <a:xfrm>
              <a:off x="4572000" y="1305360"/>
              <a:ext cx="4205880" cy="1645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Shape 9"/>
            <p:cNvSpPr/>
            <p:nvPr/>
          </p:nvSpPr>
          <p:spPr>
            <a:xfrm>
              <a:off x="4572000" y="1305360"/>
              <a:ext cx="4205880" cy="63720"/>
            </a:xfrm>
            <a:prstGeom prst="rect">
              <a:avLst/>
            </a:prstGeom>
            <a:solidFill>
              <a:srgbClr val="0096C7"/>
            </a:solidFill>
            <a:ln w="12700">
              <a:solidFill>
                <a:srgbClr val="0096C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Text 10"/>
            <p:cNvSpPr/>
            <p:nvPr/>
          </p:nvSpPr>
          <p:spPr>
            <a:xfrm>
              <a:off x="4709160" y="1415160"/>
              <a:ext cx="393156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strike="noStrike" spc="-1" err="1">
                  <a:solidFill>
                    <a:srgbClr val="0096C7"/>
                  </a:solidFill>
                  <a:latin typeface="Calibri"/>
                  <a:ea typeface="Calibri"/>
                </a:rPr>
                <a:t>Comparativos</a:t>
              </a:r>
              <a:endParaRPr lang="pt-BR" sz="13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Text 11"/>
            <p:cNvSpPr/>
            <p:nvPr/>
          </p:nvSpPr>
          <p:spPr>
            <a:xfrm>
              <a:off x="4709160" y="1762560"/>
              <a:ext cx="3931560" cy="109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Baseados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comparações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entre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elementos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(ex: Quicksort,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Mergesort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)</a:t>
              </a: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Limite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teórico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inferior: O(n log n)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Shape 12"/>
            <p:cNvSpPr/>
            <p:nvPr/>
          </p:nvSpPr>
          <p:spPr>
            <a:xfrm>
              <a:off x="4572000" y="3042720"/>
              <a:ext cx="4205880" cy="1645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Shape 13"/>
            <p:cNvSpPr/>
            <p:nvPr/>
          </p:nvSpPr>
          <p:spPr>
            <a:xfrm>
              <a:off x="4572000" y="3042720"/>
              <a:ext cx="4205880" cy="63720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Text 14"/>
            <p:cNvSpPr/>
            <p:nvPr/>
          </p:nvSpPr>
          <p:spPr>
            <a:xfrm>
              <a:off x="4709160" y="3152520"/>
              <a:ext cx="393156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spc="-1" err="1">
                  <a:solidFill>
                    <a:srgbClr val="FF6B35"/>
                  </a:solidFill>
                  <a:latin typeface="Calibri"/>
                  <a:ea typeface="Calibri"/>
                </a:rPr>
                <a:t>Não-Comparativos</a:t>
              </a:r>
              <a:endParaRPr lang="pt-BR" sz="1400" b="1" spc="-1">
                <a:solidFill>
                  <a:srgbClr val="FF6B35"/>
                </a:solidFill>
                <a:latin typeface="Calibri"/>
                <a:ea typeface="Calibri"/>
              </a:endParaRPr>
            </a:p>
          </p:txBody>
        </p:sp>
        <p:sp>
          <p:nvSpPr>
            <p:cNvPr id="97" name="Text 15"/>
            <p:cNvSpPr/>
            <p:nvPr/>
          </p:nvSpPr>
          <p:spPr>
            <a:xfrm>
              <a:off x="4709160" y="3499920"/>
              <a:ext cx="3931560" cy="109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Exploram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a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estrutura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dos dados </a:t>
              </a:r>
              <a:b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</a:b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(ex: Counting Sort, Radix Sort)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Podem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atingir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O(n)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condições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específicas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Shape 16"/>
            <p:cNvSpPr/>
            <p:nvPr/>
          </p:nvSpPr>
          <p:spPr>
            <a:xfrm>
              <a:off x="365760" y="3042720"/>
              <a:ext cx="3931560" cy="164556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Shape 17"/>
            <p:cNvSpPr/>
            <p:nvPr/>
          </p:nvSpPr>
          <p:spPr>
            <a:xfrm>
              <a:off x="365760" y="3042720"/>
              <a:ext cx="3931560" cy="63720"/>
            </a:xfrm>
            <a:prstGeom prst="rect">
              <a:avLst/>
            </a:prstGeom>
            <a:solidFill>
              <a:srgbClr val="1B2E40"/>
            </a:solidFill>
            <a:ln w="12700">
              <a:solidFill>
                <a:srgbClr val="1B2E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Text 18"/>
            <p:cNvSpPr/>
            <p:nvPr/>
          </p:nvSpPr>
          <p:spPr>
            <a:xfrm>
              <a:off x="502920" y="3152520"/>
              <a:ext cx="36572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Contexto de Uso</a:t>
              </a:r>
              <a:endParaRPr lang="pt-BR" sz="13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Text 19"/>
            <p:cNvSpPr/>
            <p:nvPr/>
          </p:nvSpPr>
          <p:spPr>
            <a:xfrm>
              <a:off x="469540" y="3499920"/>
              <a:ext cx="3690620" cy="109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Volume 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tipo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dos dados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definem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a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escolha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Memória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disponível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estabilidade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são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fatores-chave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Linguagens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modernas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já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usam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híbridos</a:t>
              </a:r>
              <a:b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</a:b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(ex: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Timsort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,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Introsort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)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/>
              <a:t>3</a:t>
            </a:r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COUNTING 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Counting Sort — Origem e Motivação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Como surgiu a ideia de ordenar sem comparar?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1732788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Harold H. Seward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publica o trabalho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"Information Sorting in the Application of Electronic Digital Computers to Business Operations"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tese no MIT que descreve formalmente o Counting Sort pela primeira vez.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4069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dos Anos 1950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379476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começavam a ser usados em operações comerciais (bancos, censo, folha de pagamento)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Ordenar registros era uma das tarefas mais custosas da época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Máquinas de cartão perfurado já usavam contagem mecânica — Seward formalizou esse conceito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Dados eram inteiros em intervalos bem definidos: idades, códigos de produto, notas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834640"/>
            <a:ext cx="40690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79476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que comparar se você já sabe o intervalo dos dados?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Contar frequências de cada valor é mais simples e direto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contagens em posições permite construir o array ordenado em passo único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complexidade linear O(n+k) — sem comparações, sem trocas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8610200" y="4731937"/>
            <a:ext cx="16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862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COUNTING 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Counting Sort — Evolução e Impacto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 tese acadêmica a sub-rotina de algoritmos modernos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75888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40096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04304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upo 33"/>
          <p:cNvGrpSpPr/>
          <p:nvPr/>
        </p:nvGrpSpPr>
        <p:grpSpPr>
          <a:xfrm>
            <a:off x="466344" y="2157983"/>
            <a:ext cx="8211312" cy="411480"/>
            <a:chOff x="457200" y="2176272"/>
            <a:chExt cx="8211312" cy="411480"/>
          </a:xfrm>
        </p:grpSpPr>
        <p:sp>
          <p:nvSpPr>
            <p:cNvPr id="9" name="Text 7"/>
            <p:cNvSpPr/>
            <p:nvPr/>
          </p:nvSpPr>
          <p:spPr>
            <a:xfrm>
              <a:off x="457200" y="2176272"/>
              <a:ext cx="1554480" cy="393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Seward descreve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algoritmo (MIT)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2121408" y="2176272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Adotado em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sistemas de censo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3785616" y="2176272"/>
              <a:ext cx="1554480" cy="393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Knuth formaliza em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TAOCP Vol. 3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5340096" y="2176272"/>
              <a:ext cx="1664208" cy="393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Base do Radix Sort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 linguagens modernas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7114032" y="2176272"/>
              <a:ext cx="1554480" cy="393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Usado em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compressão e IA</a:t>
              </a:r>
            </a:p>
          </p:txBody>
        </p:sp>
      </p:grpSp>
      <p:sp>
        <p:nvSpPr>
          <p:cNvPr id="26" name="Shape 24"/>
          <p:cNvSpPr/>
          <p:nvPr/>
        </p:nvSpPr>
        <p:spPr>
          <a:xfrm>
            <a:off x="3657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33472"/>
            <a:ext cx="4069080" cy="640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ainda é relevante?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 a sub-rotina central do Radix Sort — sem Counting Sort estável, o Radix não funciona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de histogramas em processamento de imagem (valores de pixel: 0-255)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frequências em motores de busca e sistemas de recomendação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compressão (ex: Huffman) usam estruturas de contagem similares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33472"/>
            <a:ext cx="40690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que moldaram outros algoritmos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com inteiros → levou à criação do Bucket Sort para valores reais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Memória proporcional a k → motivou o Radix Sort para dividir valores em dígitos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Ineficiente com dados esparsos → inspirou variantes com tabelas hash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Não genérico → mostrou a necessidade de algoritmos baseados em comparações para uso geral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/>
              <a:t>5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18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COUNTING SORT</a:t>
            </a:r>
            <a:endParaRPr lang="pt-BR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365760" y="5670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Book Antiqua"/>
                <a:ea typeface="Calibri"/>
              </a:rPr>
              <a:t>Counting Sort — Definição</a:t>
            </a:r>
            <a:endParaRPr lang="pt-BR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365760" y="603000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365760" y="95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B4D8"/>
                </a:solidFill>
                <a:latin typeface="Calibri"/>
                <a:ea typeface="Calibri"/>
              </a:rPr>
              <a:t>Algoritmo não-comparativo 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para ordenação de inteiros em intervalo limitado [0, k].</a:t>
            </a:r>
            <a:endParaRPr lang="pt-B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365760" y="1508760"/>
            <a:ext cx="4114440" cy="150840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365760" y="1508760"/>
            <a:ext cx="41144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502920" y="16002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0B4D8"/>
                </a:solidFill>
                <a:latin typeface="Calibri"/>
                <a:ea typeface="Calibri"/>
              </a:rPr>
              <a:t>Como Funciona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457200" y="1965960"/>
            <a:ext cx="40230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Contabiliza a frequência de cada valor do array de entrada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Acumula contagens para calcular posições finais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Constrói o array de saída ordenado a partir das posições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4754880" y="1508760"/>
            <a:ext cx="4023000" cy="150840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4754880" y="1508760"/>
            <a:ext cx="4023000" cy="5436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4892040" y="16002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90E0EF"/>
                </a:solidFill>
                <a:latin typeface="Calibri"/>
                <a:ea typeface="Calibri"/>
              </a:rPr>
              <a:t>Requisitos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4892040" y="196596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Elementos inteiros e não-negativos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Intervalo de valores k deve ser conhecido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CAE0F5"/>
                </a:solidFill>
                <a:latin typeface="Calibri"/>
                <a:ea typeface="Calibri"/>
              </a:rPr>
              <a:t>Eficiente quando k é comparável a n</a:t>
            </a:r>
            <a:endParaRPr lang="pt-BR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457200" y="3200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D166"/>
                </a:solidFill>
                <a:latin typeface="Consolas"/>
                <a:ea typeface="Consolas"/>
              </a:rPr>
              <a:t>Exemplo:  [4, 2, 2, 8, 3, 3, 1]  →  [1, 2, 2, 3, 3, 4, 8]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365760" y="3657600"/>
            <a:ext cx="2559960" cy="7311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36576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D1B2A"/>
                </a:solidFill>
                <a:latin typeface="Calibri"/>
                <a:ea typeface="Calibri"/>
              </a:rPr>
              <a:t>① Conta</a:t>
            </a:r>
            <a:endParaRPr lang="pt-B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2926080" y="4023360"/>
            <a:ext cx="320040" cy="3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3246120" y="3657600"/>
            <a:ext cx="2559960" cy="73116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324612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D1B2A"/>
                </a:solidFill>
                <a:latin typeface="Calibri"/>
                <a:ea typeface="Calibri"/>
              </a:rPr>
              <a:t>② Acumula</a:t>
            </a:r>
            <a:endParaRPr lang="pt-B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5806440" y="4023360"/>
            <a:ext cx="320040" cy="360"/>
          </a:xfrm>
          <a:prstGeom prst="line">
            <a:avLst/>
          </a:prstGeom>
          <a:ln w="254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6126480" y="3657600"/>
            <a:ext cx="2559960" cy="73116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6126480" y="36576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D1B2A"/>
                </a:solidFill>
                <a:latin typeface="Calibri"/>
                <a:ea typeface="Calibri"/>
              </a:rPr>
              <a:t>③ Constrói saída</a:t>
            </a:r>
            <a:endParaRPr lang="pt-B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6</a:t>
            </a:r>
            <a:endParaRPr 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96C7"/>
          </a:solidFill>
          <a:ln w="1270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COUNTING SORT</a:t>
            </a:r>
            <a:endParaRPr lang="pt-BR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365760" y="45252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rgbClr val="0D1B2A"/>
                </a:solidFill>
                <a:latin typeface="Book Antiqua"/>
                <a:ea typeface="Calibri"/>
              </a:rPr>
              <a:t>Counting Sort — Complexidade &amp; Aplicações</a:t>
            </a:r>
            <a:endParaRPr lang="pt-BR" sz="2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7" name="Grupo 20"/>
          <p:cNvGrpSpPr/>
          <p:nvPr/>
        </p:nvGrpSpPr>
        <p:grpSpPr>
          <a:xfrm>
            <a:off x="365760" y="1054800"/>
            <a:ext cx="8543290" cy="3584160"/>
            <a:chOff x="365760" y="1054800"/>
            <a:chExt cx="8543290" cy="3584160"/>
          </a:xfrm>
        </p:grpSpPr>
        <p:sp>
          <p:nvSpPr>
            <p:cNvPr id="128" name="Shape 3"/>
            <p:cNvSpPr/>
            <p:nvPr/>
          </p:nvSpPr>
          <p:spPr>
            <a:xfrm>
              <a:off x="365760" y="1054800"/>
              <a:ext cx="8412480" cy="360"/>
            </a:xfrm>
            <a:prstGeom prst="line">
              <a:avLst/>
            </a:prstGeom>
            <a:ln w="19050">
              <a:solidFill>
                <a:srgbClr val="0096C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-44640" rIns="90000" bIns="-44640" anchor="t" anchorCtr="1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Shape 4"/>
            <p:cNvSpPr/>
            <p:nvPr/>
          </p:nvSpPr>
          <p:spPr>
            <a:xfrm>
              <a:off x="365760" y="1164600"/>
              <a:ext cx="2742840" cy="1828440"/>
            </a:xfrm>
            <a:prstGeom prst="rect">
              <a:avLst/>
            </a:prstGeom>
            <a:solidFill>
              <a:srgbClr val="0096C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Text 5"/>
            <p:cNvSpPr/>
            <p:nvPr/>
          </p:nvSpPr>
          <p:spPr>
            <a:xfrm>
              <a:off x="365760" y="1301760"/>
              <a:ext cx="2742840" cy="100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800" b="1" strike="noStrike" spc="-1">
                  <a:solidFill>
                    <a:srgbClr val="FFFFFF"/>
                  </a:solidFill>
                  <a:latin typeface="Consolas"/>
                  <a:ea typeface="Consolas"/>
                </a:rPr>
                <a:t>O(n + k)</a:t>
              </a:r>
              <a:endParaRPr lang="pt-BR" sz="3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Text 6"/>
            <p:cNvSpPr/>
            <p:nvPr/>
          </p:nvSpPr>
          <p:spPr>
            <a:xfrm>
              <a:off x="365760" y="2261880"/>
              <a:ext cx="274284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>
                <a:tabLst>
                  <a:tab pos="0" algn="l"/>
                </a:tabLst>
              </a:pPr>
              <a:r>
                <a:rPr lang="en-US" sz="1200" spc="-1">
                  <a:solidFill>
                    <a:srgbClr val="FFFFFF"/>
                  </a:solidFill>
                  <a:latin typeface="Calibri"/>
                  <a:ea typeface="Calibri"/>
                </a:rPr>
                <a:t>n = TAMANHO DO ARRAY</a:t>
              </a:r>
              <a:endParaRPr lang="pt-BR" sz="1200" spc="-1">
                <a:solidFill>
                  <a:srgbClr val="FFFFFF"/>
                </a:solidFill>
                <a:latin typeface="Calibri"/>
                <a:ea typeface="Calibri"/>
              </a:endParaRPr>
            </a:p>
            <a:p>
              <a:pPr algn="ctr">
                <a:tabLst>
                  <a:tab pos="0" algn="l"/>
                </a:tabLst>
              </a:pPr>
              <a:r>
                <a:rPr lang="en-US" sz="1200" spc="-1">
                  <a:solidFill>
                    <a:srgbClr val="FFFFFF"/>
                  </a:solidFill>
                  <a:latin typeface="Calibri"/>
                  <a:ea typeface="Calibri"/>
                </a:rPr>
                <a:t>k = INTERVALO DE VALORES</a:t>
              </a:r>
              <a:endParaRPr lang="pt-BR" sz="1200" spc="-1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132" name="Shape 7"/>
            <p:cNvSpPr/>
            <p:nvPr/>
          </p:nvSpPr>
          <p:spPr>
            <a:xfrm>
              <a:off x="3383280" y="1164600"/>
              <a:ext cx="2651400" cy="1828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Shape 8"/>
            <p:cNvSpPr/>
            <p:nvPr/>
          </p:nvSpPr>
          <p:spPr>
            <a:xfrm>
              <a:off x="3383280" y="1164600"/>
              <a:ext cx="2651400" cy="63720"/>
            </a:xfrm>
            <a:prstGeom prst="rect">
              <a:avLst/>
            </a:prstGeom>
            <a:solidFill>
              <a:srgbClr val="0096C7"/>
            </a:solidFill>
            <a:ln w="12700">
              <a:solidFill>
                <a:srgbClr val="0096C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Text 9"/>
            <p:cNvSpPr/>
            <p:nvPr/>
          </p:nvSpPr>
          <p:spPr>
            <a:xfrm>
              <a:off x="3520440" y="1274400"/>
              <a:ext cx="2377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strike="noStrike" spc="-1" err="1">
                  <a:solidFill>
                    <a:srgbClr val="0096C7"/>
                  </a:solidFill>
                  <a:latin typeface="Calibri"/>
                  <a:ea typeface="Calibri"/>
                </a:rPr>
                <a:t>Vantagens</a:t>
              </a:r>
              <a:endParaRPr lang="pt-BR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Text 10"/>
            <p:cNvSpPr/>
            <p:nvPr/>
          </p:nvSpPr>
          <p:spPr>
            <a:xfrm>
              <a:off x="3520440" y="1812530"/>
              <a:ext cx="2377080" cy="127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Linear para k ≤ O(n)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Estável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por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natureza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Simples de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implementar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Shape 11"/>
            <p:cNvSpPr/>
            <p:nvPr/>
          </p:nvSpPr>
          <p:spPr>
            <a:xfrm>
              <a:off x="6217920" y="1164600"/>
              <a:ext cx="2559960" cy="18284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Shape 12"/>
            <p:cNvSpPr/>
            <p:nvPr/>
          </p:nvSpPr>
          <p:spPr>
            <a:xfrm>
              <a:off x="6217920" y="1164600"/>
              <a:ext cx="2559960" cy="63720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Text 13"/>
            <p:cNvSpPr/>
            <p:nvPr/>
          </p:nvSpPr>
          <p:spPr>
            <a:xfrm>
              <a:off x="6355080" y="1274400"/>
              <a:ext cx="22856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strike="noStrike" spc="-1" err="1">
                  <a:solidFill>
                    <a:srgbClr val="FF6B35"/>
                  </a:solidFill>
                  <a:latin typeface="Calibri"/>
                  <a:ea typeface="Calibri"/>
                </a:rPr>
                <a:t>Limitações</a:t>
              </a:r>
              <a:endParaRPr lang="pt-BR" sz="13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Text 14"/>
            <p:cNvSpPr/>
            <p:nvPr/>
          </p:nvSpPr>
          <p:spPr>
            <a:xfrm>
              <a:off x="6355080" y="1621800"/>
              <a:ext cx="2553970" cy="127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Só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funciona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com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inteiros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k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grande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→ alto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uso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memória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Ineficiente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com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grandes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intervalos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Shape 15"/>
            <p:cNvSpPr/>
            <p:nvPr/>
          </p:nvSpPr>
          <p:spPr>
            <a:xfrm>
              <a:off x="365760" y="3130560"/>
              <a:ext cx="8412120" cy="15084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  <a:effectLst>
              <a:outerShdw blurRad="76320" dist="25455" dir="8100000" algn="bl" rotWithShape="0">
                <a:srgbClr val="000000">
                  <a:alpha val="1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Shape 16"/>
            <p:cNvSpPr/>
            <p:nvPr/>
          </p:nvSpPr>
          <p:spPr>
            <a:xfrm>
              <a:off x="365760" y="3130560"/>
              <a:ext cx="8412120" cy="63720"/>
            </a:xfrm>
            <a:prstGeom prst="rect">
              <a:avLst/>
            </a:prstGeom>
            <a:solidFill>
              <a:srgbClr val="1B2E40"/>
            </a:solidFill>
            <a:ln w="12700">
              <a:solidFill>
                <a:srgbClr val="1B2E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19080" rIns="90000" bIns="1908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2" name="Text 17"/>
            <p:cNvSpPr/>
            <p:nvPr/>
          </p:nvSpPr>
          <p:spPr>
            <a:xfrm>
              <a:off x="502920" y="3240360"/>
              <a:ext cx="813780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Aplicações</a:t>
              </a:r>
              <a:r>
                <a:rPr lang="en-US" sz="1600" b="1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600" b="1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Práticas</a:t>
              </a:r>
              <a:endParaRPr lang="pt-BR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Text 18"/>
            <p:cNvSpPr/>
            <p:nvPr/>
          </p:nvSpPr>
          <p:spPr>
            <a:xfrm>
              <a:off x="502920" y="3669480"/>
              <a:ext cx="8137800" cy="959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Ordenar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notas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(0-100),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idades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(0-120)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ou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caracteres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ASCII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Base do Radix Sort para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cada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dígito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1B2E40"/>
                </a:buClr>
                <a:buFont typeface="Symbol" charset="2"/>
                <a:buChar char=""/>
              </a:pP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Sistemas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votação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contagem</a:t>
              </a:r>
              <a:r>
                <a:rPr lang="en-US" sz="1400" b="0" strike="noStrike" spc="-1">
                  <a:solidFill>
                    <a:srgbClr val="1B2E40"/>
                  </a:solidFill>
                  <a:latin typeface="Calibri"/>
                  <a:ea typeface="Calibri"/>
                </a:rPr>
                <a:t> de </a:t>
              </a:r>
              <a:r>
                <a:rPr lang="en-US" sz="1400" b="0" strike="noStrike" spc="-1" err="1">
                  <a:solidFill>
                    <a:srgbClr val="1B2E40"/>
                  </a:solidFill>
                  <a:latin typeface="Calibri"/>
                  <a:ea typeface="Calibri"/>
                </a:rPr>
                <a:t>frequências</a:t>
              </a:r>
              <a:endParaRPr lang="pt-BR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CaixaDeTexto 21"/>
          <p:cNvSpPr txBox="1"/>
          <p:nvPr/>
        </p:nvSpPr>
        <p:spPr>
          <a:xfrm>
            <a:off x="8610200" y="4731937"/>
            <a:ext cx="167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75738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20267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545019"/>
            <a:ext cx="7229887" cy="4066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Implementação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</a:t>
            </a: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em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C — Counting Sort </a:t>
            </a:r>
            <a:endParaRPr kumimoji="0" lang="pt-BR" sz="32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365760" y="1097280"/>
            <a:ext cx="8412120" cy="3813679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639900" y="1183070"/>
            <a:ext cx="7863480" cy="36420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void counting_sort(int* lista, int n)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 maior = adquirir_maior_valor(lista, n);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1. Contar ocorrencias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0; i &lt; n; i++)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count[lista[i]]++;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2. Acumular prefixos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1; i &lt;= maior; i++)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count[i] += count[i-1];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3. Reconstruir de tras p/ frente (estavel)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n-1; i &gt;= 0; i--)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aux[count[lista[i]]-1] = lista[i];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count[lista[i]]--;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0; i &lt; n; i++) lista[i] = aux[i];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8617462" y="4640502"/>
            <a:ext cx="152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432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499014"/>
            <a:ext cx="8412480" cy="406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sz="2000" b="1" spc="-1">
                <a:solidFill>
                  <a:srgbClr val="FFFFFF"/>
                </a:solidFill>
                <a:latin typeface="Book Antiqua" panose="02040602050305030304" pitchFamily="18" charset="0"/>
                <a:ea typeface="Calibri"/>
              </a:rPr>
              <a:t>Algoritmos de Ordenação — Tempo Médio por Cenário de Entrada (C)</a:t>
            </a:r>
          </a:p>
        </p:txBody>
      </p:sp>
      <p:sp>
        <p:nvSpPr>
          <p:cNvPr id="272" name="Shape 4"/>
          <p:cNvSpPr/>
          <p:nvPr/>
        </p:nvSpPr>
        <p:spPr>
          <a:xfrm>
            <a:off x="365760" y="1192487"/>
            <a:ext cx="8476514" cy="3589684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686800" y="4784095"/>
            <a:ext cx="256802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9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pic>
        <p:nvPicPr>
          <p:cNvPr id="2" name="Imagem 1" descr="Tabel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00" y="1188704"/>
            <a:ext cx="8412480" cy="358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42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0" y="-1467"/>
            <a:ext cx="8447909" cy="5144967"/>
          </a:xfrm>
          <a:prstGeom prst="rect">
            <a:avLst/>
          </a:prstGeom>
          <a:solidFill>
            <a:srgbClr val="0F172A"/>
          </a:solidFill>
        </p:spPr>
      </p:pic>
      <p:sp>
        <p:nvSpPr>
          <p:cNvPr id="3" name="CaixaDeTexto 2"/>
          <p:cNvSpPr txBox="1"/>
          <p:nvPr/>
        </p:nvSpPr>
        <p:spPr>
          <a:xfrm>
            <a:off x="8610200" y="4731937"/>
            <a:ext cx="412608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100">
                <a:solidFill>
                  <a:schemeClr val="bg1"/>
                </a:solidFill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842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3EC03-6F6A-FB41-FD2C-7BD8C76F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>
            <a:extLst>
              <a:ext uri="{FF2B5EF4-FFF2-40B4-BE49-F238E27FC236}">
                <a16:creationId xmlns:a16="http://schemas.microsoft.com/office/drawing/2014/main" id="{B8103F38-FD25-35B1-A899-845048CB6F2F}"/>
              </a:ext>
            </a:extLst>
          </p:cNvPr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Shape 4">
            <a:extLst>
              <a:ext uri="{FF2B5EF4-FFF2-40B4-BE49-F238E27FC236}">
                <a16:creationId xmlns:a16="http://schemas.microsoft.com/office/drawing/2014/main" id="{19C23CCC-B641-A6CA-D968-79B6394DF97E}"/>
              </a:ext>
            </a:extLst>
          </p:cNvPr>
          <p:cNvSpPr/>
          <p:nvPr/>
        </p:nvSpPr>
        <p:spPr>
          <a:xfrm>
            <a:off x="365760" y="416650"/>
            <a:ext cx="8484678" cy="4300436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728BFB-81E1-BBF5-E09D-DE8D7AA029F4}"/>
              </a:ext>
            </a:extLst>
          </p:cNvPr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11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9F148CF-AFED-ECAB-3AD2-0E7DBA1B3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74" y="418590"/>
            <a:ext cx="8351650" cy="43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86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30" y="0"/>
            <a:ext cx="8455940" cy="51435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8610200" y="4731937"/>
            <a:ext cx="33695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12</a:t>
            </a:r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118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RADIX 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Radix Sort — Origem e Motivação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Uma ideia que antecede os computadores modernos em décadas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1887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69439" y="1732788"/>
            <a:ext cx="702902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Herman Hollerith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desenvolve a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máquina tabuladora de cartão perfurado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para o Censo dos EUA. O princípio de ordenar por uma coluna de cada vez (dígito a dígito) é o embrião do Radix Sort.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40690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73213"/>
            <a:ext cx="379476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Censo de 1880 nos EUA levou 8 anos para ser tabulado manualmente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Hollerith criou máquinas que perfuravam e ordenavam cartões por coluna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Cada coluna representava um dígito — a ordenação era feita coluna a coluna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Censo de 1890 foi processado em apenas 1 ano com a nova tecnologia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834640"/>
            <a:ext cx="4069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 Máquina ao Algoritmo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3291840"/>
            <a:ext cx="379476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 1954, Harold Seward formalizou o Counting Sort — base para o Radix Sort digital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Donald Knuth sistematizou o Radix Sort no TAOCP (1968), definindo LSD e MSD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LSD (Least Significant Digit): do dígito menos ao mais significativo — estável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MSD (Most Significant Digit): do mais ao menos significativo — recursivo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13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2138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RADIX 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Radix Sort — Evolução e Impacto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 cartões perfurados a bancos de dados e redes de telecomunicação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1887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75888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1968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40096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04304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que transformou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Roteadores de rede: ordenam endereços IP (32 bits) em tempo real com Radix Sort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Bancos de dados colunares (ex: Apache Parquet) ordenam chaves numéricas com variantes do Radix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GPUs usam Radix Sort paralelo — é o algoritmo de ordenação mais rápido em hardware gráfico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Compressores de dados como bzip2 usam variante do Radix para construção de suffix arrays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grpSp>
        <p:nvGrpSpPr>
          <p:cNvPr id="34" name="Grupo 33"/>
          <p:cNvGrpSpPr/>
          <p:nvPr/>
        </p:nvGrpSpPr>
        <p:grpSpPr>
          <a:xfrm>
            <a:off x="365760" y="2139696"/>
            <a:ext cx="8412480" cy="566928"/>
            <a:chOff x="365760" y="2169020"/>
            <a:chExt cx="8412480" cy="566928"/>
          </a:xfrm>
        </p:grpSpPr>
        <p:sp>
          <p:nvSpPr>
            <p:cNvPr id="9" name="Text 7"/>
            <p:cNvSpPr/>
            <p:nvPr/>
          </p:nvSpPr>
          <p:spPr>
            <a:xfrm>
              <a:off x="457200" y="2169020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Hollerith: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tabuladora de cartões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2121408" y="2176272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Seward formaliza</a:t>
              </a:r>
            </a:p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Counting Sort (base)</a:t>
              </a:r>
            </a:p>
          </p:txBody>
        </p:sp>
        <p:sp>
          <p:nvSpPr>
            <p:cNvPr id="17" name="Text 15"/>
            <p:cNvSpPr/>
            <p:nvPr/>
          </p:nvSpPr>
          <p:spPr>
            <a:xfrm>
              <a:off x="3785616" y="2176272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Knuth define LSD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 MSD no TAOCP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5449824" y="2176272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Radix Sort em</a:t>
              </a:r>
            </a:p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roteadores de rede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7114032" y="2176272"/>
              <a:ext cx="1554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GPUs e bancos</a:t>
              </a:r>
            </a:p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 dados colunares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365760" y="2671940"/>
              <a:ext cx="4069080" cy="64008"/>
            </a:xfrm>
            <a:prstGeom prst="rect">
              <a:avLst/>
            </a:prstGeom>
            <a:solidFill>
              <a:srgbClr val="0096C7"/>
            </a:solidFill>
            <a:ln w="12700">
              <a:solidFill>
                <a:srgbClr val="0096C7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4709160" y="2671940"/>
              <a:ext cx="4069080" cy="64008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</p:sp>
      </p:grpSp>
      <p:sp>
        <p:nvSpPr>
          <p:cNvPr id="32" name="Text 30"/>
          <p:cNvSpPr/>
          <p:nvPr/>
        </p:nvSpPr>
        <p:spPr>
          <a:xfrm>
            <a:off x="48463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Por que ele resistiu ao tempo?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É assintoticamente melhor que qualquer algoritmo comparativo para dados inteiros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Paraleliza naturalmente — cada dígito pode ser processado em paralelo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Previsível: complexidade O(d·n) sem dependência dos dados (sem pior caso especial)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 base 256 (byte), ordena inteiros de 32 bits em apenas 4 passagens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/>
              <a:t>14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6261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FF6B35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FF54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RADIX SORT</a:t>
            </a:r>
            <a:endParaRPr lang="pt-BR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457200" y="585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Book Antiqua"/>
                <a:ea typeface="Calibri"/>
              </a:rPr>
              <a:t>Radix Sort — Definição e Método LSD</a:t>
            </a:r>
            <a:endParaRPr lang="pt-BR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365760" y="640080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457200" y="9601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F6B35"/>
                </a:solidFill>
                <a:latin typeface="Calibri"/>
                <a:ea typeface="Calibri"/>
              </a:rPr>
              <a:t>Ordena números dígito a dígito </a:t>
            </a:r>
            <a:r>
              <a:rPr lang="en-US" sz="1350" b="0" strike="noStrike" spc="-1">
                <a:solidFill>
                  <a:srgbClr val="CAE0F5"/>
                </a:solidFill>
                <a:latin typeface="Calibri"/>
                <a:ea typeface="Calibri"/>
              </a:rPr>
              <a:t>usando um algoritmo estável como sub-rotina em cada passo.</a:t>
            </a:r>
            <a:endParaRPr lang="pt-BR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365760" y="1371240"/>
            <a:ext cx="2697120" cy="34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365760" y="137124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D1B2A"/>
                </a:solidFill>
                <a:latin typeface="Calibri"/>
              </a:rPr>
              <a:t>Passo 1 — Unidade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365760" y="176436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365760" y="17643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170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365760" y="211176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365760" y="21117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045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365760" y="24595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365760" y="24595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075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365760" y="28069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365760" y="28069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090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365760" y="31543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365760" y="31543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365760" y="35017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365760" y="35017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024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365760" y="38491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365760" y="38491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802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365760" y="419688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365760" y="419688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066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3063240" y="2742840"/>
            <a:ext cx="360" cy="360"/>
          </a:xfrm>
          <a:prstGeom prst="line">
            <a:avLst/>
          </a:prstGeom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25"/>
          <p:cNvSpPr/>
          <p:nvPr/>
        </p:nvSpPr>
        <p:spPr>
          <a:xfrm>
            <a:off x="3291840" y="1371240"/>
            <a:ext cx="2697120" cy="347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542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6"/>
          <p:cNvSpPr/>
          <p:nvPr/>
        </p:nvSpPr>
        <p:spPr>
          <a:xfrm>
            <a:off x="3291840" y="137124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D1B2A"/>
                </a:solidFill>
                <a:latin typeface="Calibri"/>
              </a:rPr>
              <a:t>Passo 2 — Dezena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7"/>
          <p:cNvSpPr/>
          <p:nvPr/>
        </p:nvSpPr>
        <p:spPr>
          <a:xfrm>
            <a:off x="3291840" y="176436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8"/>
          <p:cNvSpPr/>
          <p:nvPr/>
        </p:nvSpPr>
        <p:spPr>
          <a:xfrm>
            <a:off x="3291840" y="17643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9"/>
          <p:cNvSpPr/>
          <p:nvPr/>
        </p:nvSpPr>
        <p:spPr>
          <a:xfrm>
            <a:off x="3291840" y="211176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30"/>
          <p:cNvSpPr/>
          <p:nvPr/>
        </p:nvSpPr>
        <p:spPr>
          <a:xfrm>
            <a:off x="3291840" y="21117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802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31"/>
          <p:cNvSpPr/>
          <p:nvPr/>
        </p:nvSpPr>
        <p:spPr>
          <a:xfrm>
            <a:off x="3291840" y="24595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2"/>
          <p:cNvSpPr/>
          <p:nvPr/>
        </p:nvSpPr>
        <p:spPr>
          <a:xfrm>
            <a:off x="3291840" y="24595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024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33"/>
          <p:cNvSpPr/>
          <p:nvPr/>
        </p:nvSpPr>
        <p:spPr>
          <a:xfrm>
            <a:off x="3291840" y="28069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34"/>
          <p:cNvSpPr/>
          <p:nvPr/>
        </p:nvSpPr>
        <p:spPr>
          <a:xfrm>
            <a:off x="3291840" y="28069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045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5"/>
          <p:cNvSpPr/>
          <p:nvPr/>
        </p:nvSpPr>
        <p:spPr>
          <a:xfrm>
            <a:off x="3291840" y="31543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36"/>
          <p:cNvSpPr/>
          <p:nvPr/>
        </p:nvSpPr>
        <p:spPr>
          <a:xfrm>
            <a:off x="3291840" y="31543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066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37"/>
          <p:cNvSpPr/>
          <p:nvPr/>
        </p:nvSpPr>
        <p:spPr>
          <a:xfrm>
            <a:off x="3291840" y="35017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38"/>
          <p:cNvSpPr/>
          <p:nvPr/>
        </p:nvSpPr>
        <p:spPr>
          <a:xfrm>
            <a:off x="3291840" y="35017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170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39"/>
          <p:cNvSpPr/>
          <p:nvPr/>
        </p:nvSpPr>
        <p:spPr>
          <a:xfrm>
            <a:off x="3291840" y="38491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40"/>
          <p:cNvSpPr/>
          <p:nvPr/>
        </p:nvSpPr>
        <p:spPr>
          <a:xfrm>
            <a:off x="3291840" y="38491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075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41"/>
          <p:cNvSpPr/>
          <p:nvPr/>
        </p:nvSpPr>
        <p:spPr>
          <a:xfrm>
            <a:off x="3291840" y="419688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42"/>
          <p:cNvSpPr/>
          <p:nvPr/>
        </p:nvSpPr>
        <p:spPr>
          <a:xfrm>
            <a:off x="3291840" y="419688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090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43"/>
          <p:cNvSpPr/>
          <p:nvPr/>
        </p:nvSpPr>
        <p:spPr>
          <a:xfrm>
            <a:off x="5989320" y="2742840"/>
            <a:ext cx="360" cy="360"/>
          </a:xfrm>
          <a:prstGeom prst="line">
            <a:avLst/>
          </a:prstGeom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45"/>
          <p:cNvSpPr/>
          <p:nvPr/>
        </p:nvSpPr>
        <p:spPr>
          <a:xfrm>
            <a:off x="6217920" y="1371240"/>
            <a:ext cx="2697120" cy="3470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46"/>
          <p:cNvSpPr/>
          <p:nvPr/>
        </p:nvSpPr>
        <p:spPr>
          <a:xfrm>
            <a:off x="6217920" y="1371240"/>
            <a:ext cx="2697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D1B2A"/>
                </a:solidFill>
                <a:latin typeface="Calibri"/>
              </a:rPr>
              <a:t>Passo 3 — Centena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47"/>
          <p:cNvSpPr/>
          <p:nvPr/>
        </p:nvSpPr>
        <p:spPr>
          <a:xfrm>
            <a:off x="6217920" y="176436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48"/>
          <p:cNvSpPr/>
          <p:nvPr/>
        </p:nvSpPr>
        <p:spPr>
          <a:xfrm>
            <a:off x="6217920" y="17643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49"/>
          <p:cNvSpPr/>
          <p:nvPr/>
        </p:nvSpPr>
        <p:spPr>
          <a:xfrm>
            <a:off x="6217920" y="211176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50"/>
          <p:cNvSpPr/>
          <p:nvPr/>
        </p:nvSpPr>
        <p:spPr>
          <a:xfrm>
            <a:off x="6217920" y="211176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024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51"/>
          <p:cNvSpPr/>
          <p:nvPr/>
        </p:nvSpPr>
        <p:spPr>
          <a:xfrm>
            <a:off x="6217920" y="24595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52"/>
          <p:cNvSpPr/>
          <p:nvPr/>
        </p:nvSpPr>
        <p:spPr>
          <a:xfrm>
            <a:off x="6217920" y="24595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045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53"/>
          <p:cNvSpPr/>
          <p:nvPr/>
        </p:nvSpPr>
        <p:spPr>
          <a:xfrm>
            <a:off x="6217920" y="28069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54"/>
          <p:cNvSpPr/>
          <p:nvPr/>
        </p:nvSpPr>
        <p:spPr>
          <a:xfrm>
            <a:off x="6217920" y="28069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066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55"/>
          <p:cNvSpPr/>
          <p:nvPr/>
        </p:nvSpPr>
        <p:spPr>
          <a:xfrm>
            <a:off x="6217920" y="31543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6"/>
          <p:cNvSpPr/>
          <p:nvPr/>
        </p:nvSpPr>
        <p:spPr>
          <a:xfrm>
            <a:off x="6217920" y="31543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075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57"/>
          <p:cNvSpPr/>
          <p:nvPr/>
        </p:nvSpPr>
        <p:spPr>
          <a:xfrm>
            <a:off x="6217920" y="350172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58"/>
          <p:cNvSpPr/>
          <p:nvPr/>
        </p:nvSpPr>
        <p:spPr>
          <a:xfrm>
            <a:off x="6217920" y="35017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090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59"/>
          <p:cNvSpPr/>
          <p:nvPr/>
        </p:nvSpPr>
        <p:spPr>
          <a:xfrm>
            <a:off x="6217920" y="3849120"/>
            <a:ext cx="2697120" cy="338040"/>
          </a:xfrm>
          <a:prstGeom prst="rect">
            <a:avLst/>
          </a:prstGeom>
          <a:solidFill>
            <a:srgbClr val="142535"/>
          </a:solidFill>
          <a:ln w="12700">
            <a:solidFill>
              <a:srgbClr val="1425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60"/>
          <p:cNvSpPr/>
          <p:nvPr/>
        </p:nvSpPr>
        <p:spPr>
          <a:xfrm>
            <a:off x="6217920" y="384912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170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61"/>
          <p:cNvSpPr/>
          <p:nvPr/>
        </p:nvSpPr>
        <p:spPr>
          <a:xfrm>
            <a:off x="6217920" y="4196880"/>
            <a:ext cx="2697120" cy="33804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62"/>
          <p:cNvSpPr/>
          <p:nvPr/>
        </p:nvSpPr>
        <p:spPr>
          <a:xfrm>
            <a:off x="6217920" y="4196880"/>
            <a:ext cx="26971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onsolas"/>
                <a:ea typeface="Consolas"/>
              </a:rPr>
              <a:t>802</a:t>
            </a:r>
            <a:endParaRPr lang="pt-BR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63"/>
          <p:cNvSpPr/>
          <p:nvPr/>
        </p:nvSpPr>
        <p:spPr>
          <a:xfrm>
            <a:off x="365760" y="4627767"/>
            <a:ext cx="8549280" cy="411120"/>
          </a:xfrm>
          <a:prstGeom prst="rect">
            <a:avLst/>
          </a:prstGeom>
          <a:solidFill>
            <a:srgbClr val="112233"/>
          </a:solidFill>
          <a:ln w="0">
            <a:noFill/>
          </a:ln>
          <a:effectLst>
            <a:outerShdw blurRad="101520" dist="37674" dir="81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64"/>
          <p:cNvSpPr/>
          <p:nvPr/>
        </p:nvSpPr>
        <p:spPr>
          <a:xfrm>
            <a:off x="365760" y="4627766"/>
            <a:ext cx="8549280" cy="7880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65"/>
          <p:cNvSpPr/>
          <p:nvPr/>
        </p:nvSpPr>
        <p:spPr>
          <a:xfrm>
            <a:off x="457200" y="4706574"/>
            <a:ext cx="8137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CAE0F5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LSD (Least Significant Digit):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processa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do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dígito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menos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significativo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ao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mais</a:t>
            </a:r>
            <a:r>
              <a:rPr lang="en-US" sz="1400" b="0" strike="noStrike" spc="-1">
                <a:solidFill>
                  <a:srgbClr val="CAE0F5"/>
                </a:solidFill>
                <a:latin typeface="Calibri"/>
                <a:ea typeface="Calibri"/>
              </a:rPr>
              <a:t> </a:t>
            </a:r>
            <a:r>
              <a:rPr lang="en-US" sz="1400" b="0" strike="noStrike" spc="-1" err="1">
                <a:solidFill>
                  <a:srgbClr val="CAE0F5"/>
                </a:solidFill>
                <a:latin typeface="Calibri"/>
                <a:ea typeface="Calibri"/>
              </a:rPr>
              <a:t>significativo</a:t>
            </a:r>
            <a:endParaRPr lang="pt-BR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3031657" y="3007278"/>
            <a:ext cx="260183" cy="27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FF6B35"/>
                </a:solidFill>
                <a:latin typeface="Calibri"/>
              </a:rPr>
              <a:t>→</a:t>
            </a:r>
            <a:endParaRPr lang="pt-BR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4"/>
          <p:cNvSpPr/>
          <p:nvPr/>
        </p:nvSpPr>
        <p:spPr>
          <a:xfrm>
            <a:off x="5875020" y="2904857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solidFill>
                  <a:srgbClr val="00D4AA"/>
                </a:solidFill>
                <a:latin typeface="Calibri"/>
              </a:rPr>
              <a:t>→</a:t>
            </a:r>
            <a:endParaRPr lang="pt-BR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15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FF6B35"/>
          </a:solidFill>
          <a:ln w="1270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RADIX SORT</a:t>
            </a:r>
            <a:endParaRPr lang="pt-BR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"/>
          <p:cNvSpPr/>
          <p:nvPr/>
        </p:nvSpPr>
        <p:spPr>
          <a:xfrm>
            <a:off x="365760" y="720000"/>
            <a:ext cx="8094240" cy="5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0D1B2A"/>
                </a:solidFill>
                <a:latin typeface="Book antiqua"/>
                <a:ea typeface="Calibri"/>
              </a:rPr>
              <a:t>Radix Sort - Complexidade &amp; Relação com Counting Sort </a:t>
            </a:r>
            <a:endParaRPr lang="pt-BR" sz="2400" b="0" strike="noStrike" spc="-1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360000" y="1260000"/>
            <a:ext cx="8412480" cy="360"/>
          </a:xfrm>
          <a:prstGeom prst="line">
            <a:avLst/>
          </a:prstGeom>
          <a:ln w="1905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360000" y="1369800"/>
            <a:ext cx="2925720" cy="1510200"/>
          </a:xfrm>
          <a:prstGeom prst="rect">
            <a:avLst/>
          </a:prstGeom>
          <a:solidFill>
            <a:srgbClr val="FF6B3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360000" y="1369800"/>
            <a:ext cx="292572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FFFFFF"/>
                </a:solidFill>
                <a:latin typeface="Consolas"/>
                <a:ea typeface="Consolas"/>
              </a:rPr>
              <a:t>O(d(n</a:t>
            </a:r>
            <a:r>
              <a:rPr lang="en-US" sz="3200" b="1" strike="noStrike" spc="-1">
                <a:solidFill>
                  <a:srgbClr val="FFFFFF"/>
                </a:solidFill>
                <a:latin typeface="Consolas"/>
                <a:ea typeface="Consolas"/>
              </a:rPr>
              <a:t> + k))</a:t>
            </a: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360000" y="2160000"/>
            <a:ext cx="2925720" cy="54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spc="-1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 = Nº DE DÍGITOS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spc="-1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 = TAMANHO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spc="-1">
                <a:solidFill>
                  <a:srgbClr val="FFFFFF"/>
                </a:solidFill>
                <a:latin typeface="Calibri"/>
                <a:ea typeface="Calibri"/>
              </a:rPr>
              <a:t>k</a:t>
            </a:r>
            <a:r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 = BASE (Ex: 10)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3468960" y="1369800"/>
            <a:ext cx="2559960" cy="15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3468960" y="1369800"/>
            <a:ext cx="2559960" cy="63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3606120" y="147960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err="1">
                <a:solidFill>
                  <a:srgbClr val="0096C7"/>
                </a:solidFill>
                <a:latin typeface="Calibri"/>
                <a:ea typeface="Calibri"/>
              </a:rPr>
              <a:t>Vantagens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3514860" y="1796580"/>
            <a:ext cx="2285640" cy="60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Linear para d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constante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Estável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por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natureza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Funciona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bem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com strings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6217920" y="1369800"/>
            <a:ext cx="2559960" cy="1510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6212160" y="1369800"/>
            <a:ext cx="2559960" cy="63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6349320" y="148296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 err="1">
                <a:solidFill>
                  <a:srgbClr val="FF6B35"/>
                </a:solidFill>
                <a:latin typeface="Calibri"/>
                <a:ea typeface="Calibri"/>
              </a:rPr>
              <a:t>Limitações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6274710" y="1796580"/>
            <a:ext cx="2692170" cy="87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Depende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do Counting Sort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Sensível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ao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valor de k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Memória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adicional</a:t>
            </a:r>
            <a:r>
              <a:rPr lang="en-US" sz="13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3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necessária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5"/>
          <p:cNvSpPr/>
          <p:nvPr/>
        </p:nvSpPr>
        <p:spPr>
          <a:xfrm>
            <a:off x="365760" y="3335760"/>
            <a:ext cx="4114440" cy="134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360000" y="3335760"/>
            <a:ext cx="4114440" cy="63720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497160" y="3445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2E40"/>
                </a:solidFill>
                <a:latin typeface="Book antiqua"/>
                <a:ea typeface="Calibri"/>
              </a:rPr>
              <a:t>Relação com Counting Sort</a:t>
            </a:r>
            <a:endParaRPr lang="pt-BR" sz="1300" b="0" strike="noStrike" spc="-1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228" name="Text 18"/>
          <p:cNvSpPr/>
          <p:nvPr/>
        </p:nvSpPr>
        <p:spPr>
          <a:xfrm>
            <a:off x="406080" y="3782270"/>
            <a:ext cx="4114440" cy="5992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Usa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Counting Sort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como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sub-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rotina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estável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em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cada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dígito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Cada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passagem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ordena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por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um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dígito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sem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desfazer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a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ordem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anterior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9"/>
          <p:cNvSpPr/>
          <p:nvPr/>
        </p:nvSpPr>
        <p:spPr>
          <a:xfrm>
            <a:off x="4663440" y="3335760"/>
            <a:ext cx="4114440" cy="1344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0"/>
          <p:cNvSpPr/>
          <p:nvPr/>
        </p:nvSpPr>
        <p:spPr>
          <a:xfrm>
            <a:off x="4657680" y="3335760"/>
            <a:ext cx="4114440" cy="63720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4794840" y="3445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2E40"/>
                </a:solidFill>
                <a:latin typeface="Book antiqua"/>
                <a:ea typeface="Calibri"/>
              </a:rPr>
              <a:t>Exemplo Prático</a:t>
            </a:r>
            <a:endParaRPr lang="pt-BR" sz="1300" b="0" strike="noStrike" spc="-1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232" name="Text 22"/>
          <p:cNvSpPr/>
          <p:nvPr/>
        </p:nvSpPr>
        <p:spPr>
          <a:xfrm>
            <a:off x="4794840" y="3765240"/>
            <a:ext cx="3917360" cy="616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Ordenar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números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de CPF, CEP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ou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códigos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de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barras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Processamento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de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grandes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volumes de strings com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comprimento</a:t>
            </a:r>
            <a:r>
              <a:rPr lang="en-US" sz="1200" b="0" strike="noStrike" spc="-1">
                <a:solidFill>
                  <a:srgbClr val="1B2E40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1B2E40"/>
                </a:solidFill>
                <a:latin typeface="Calibri"/>
                <a:ea typeface="Calibri"/>
              </a:rPr>
              <a:t>fixo</a:t>
            </a:r>
            <a:endParaRPr lang="pt-BR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/>
              <a:t>16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499014"/>
            <a:ext cx="6595076" cy="406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Implementação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</a:t>
            </a: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em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C — Radix Sort</a:t>
            </a:r>
            <a:endParaRPr kumimoji="0" lang="pt-BR" sz="32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365760" y="1055649"/>
            <a:ext cx="8412120" cy="3855310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640080" y="1220579"/>
            <a:ext cx="7863480" cy="35800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void counting_por_digito(int* lista, int n, int expo)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Extrai digito na posicao 'expo'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0; i &lt; n; i++)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count[(lista[i] / expo) % 10]++;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1; i &lt; 10; i++) count[i] += count[i-1];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i = n-1; i &gt;= 0; i--)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aux[--count[(lista[i]/expo)%10]] = lista[i];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void radix_sort(int* lista, int n)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 maior = adquirir_maior_valor(lista, n);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Ordena dígito a dígito: unidade → dezena → …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for (int expo = 1; maior/expo &gt; 0; expo *= 10)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counting_por_digito(lista, n, expo);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17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1861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499014"/>
            <a:ext cx="8412480" cy="406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sz="2000" b="1" spc="-1">
                <a:solidFill>
                  <a:srgbClr val="FFFFFF"/>
                </a:solidFill>
                <a:latin typeface="Book Antiqua" panose="02040602050305030304" pitchFamily="18" charset="0"/>
                <a:ea typeface="Calibri"/>
              </a:rPr>
              <a:t>Algoritmos de Ordenação — Tempo Médio por Cenário de Entrada (C)</a:t>
            </a:r>
          </a:p>
        </p:txBody>
      </p:sp>
      <p:sp>
        <p:nvSpPr>
          <p:cNvPr id="272" name="Shape 4"/>
          <p:cNvSpPr/>
          <p:nvPr/>
        </p:nvSpPr>
        <p:spPr>
          <a:xfrm>
            <a:off x="365760" y="1208585"/>
            <a:ext cx="8476514" cy="3557487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18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13" name="Imagem 12" descr="Tabela&#10;&#10;O conteúdo gerado por IA pode estar incorre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01" y="1208796"/>
            <a:ext cx="8412480" cy="354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3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0"/>
            <a:ext cx="8445500" cy="514350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19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19108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03700-7B86-97C4-974F-8C22CA49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>
            <a:extLst>
              <a:ext uri="{FF2B5EF4-FFF2-40B4-BE49-F238E27FC236}">
                <a16:creationId xmlns:a16="http://schemas.microsoft.com/office/drawing/2014/main" id="{64AB58F7-BDAB-912C-B974-8E6BAC5877DD}"/>
              </a:ext>
            </a:extLst>
          </p:cNvPr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Shape 4">
            <a:extLst>
              <a:ext uri="{FF2B5EF4-FFF2-40B4-BE49-F238E27FC236}">
                <a16:creationId xmlns:a16="http://schemas.microsoft.com/office/drawing/2014/main" id="{9C9108FC-DA8F-227F-3AFC-51547A357FB4}"/>
              </a:ext>
            </a:extLst>
          </p:cNvPr>
          <p:cNvSpPr/>
          <p:nvPr/>
        </p:nvSpPr>
        <p:spPr>
          <a:xfrm>
            <a:off x="365760" y="416650"/>
            <a:ext cx="8484678" cy="4300436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4B7BAFE-F8DB-344C-7C13-1013A2A8BF5C}"/>
              </a:ext>
            </a:extLst>
          </p:cNvPr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20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pic>
        <p:nvPicPr>
          <p:cNvPr id="2" name="Imagem 1" descr="Linha do tempo&#10;&#10;O conteúdo gerado por IA pode estar incorreto.">
            <a:extLst>
              <a:ext uri="{FF2B5EF4-FFF2-40B4-BE49-F238E27FC236}">
                <a16:creationId xmlns:a16="http://schemas.microsoft.com/office/drawing/2014/main" id="{4E21D274-2E72-FBD1-8F42-0DBD61A8D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395287"/>
            <a:ext cx="85058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8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99" y="0"/>
            <a:ext cx="8466402" cy="514349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21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4771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INTROSORT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82646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Introsort — Origem e Motivação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pior caso do Quicksort que motivou um novo algoritmo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07183"/>
            <a:ext cx="84124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20240" y="1721594"/>
            <a:ext cx="6858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David Musser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publica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"Introspective Sorting and Selection Algorithms"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na revista Software: Practice and Experience, propondo um algoritmo que monitora a própria execução e muda de estratégia quando necessário.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834640"/>
            <a:ext cx="40690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o Originou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3181638"/>
            <a:ext cx="41148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Quicksort é rápido na prática, mas tem pior caso O(n²) com pivô ruim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Arrays já ordenados ou quase ordenados são adversariais para o Quicksort clássico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de produção, inputs adversariais podem ser explorados intencionalmente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Heapsort garante O(n log n) mas é ~2x mais lento que Quicksort na prática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09160" y="2834640"/>
            <a:ext cx="4069080" cy="205740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834640"/>
            <a:ext cx="40690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443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de Musser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54880" y="3181638"/>
            <a:ext cx="4061197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"Introspecção": o algoritmo monitora sua profundidade de recursão em tempo real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Começa com Quicksort (rápido no caso médio)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Ao detectar recursão excessiva, troca para Heapsort (seguro no pior caso)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 Insertion Sort para partições pequenas (≤16 elementos) — ótimo na prática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22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65487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416535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Introsort — Algoritmo Híbrido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93138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Combina três algoritmos para garantir desempenho ótimo em qualquer cenário. Padrão na STL do C++.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 flipV="1">
            <a:off x="256032" y="1265738"/>
            <a:ext cx="8686800" cy="1312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369072"/>
            <a:ext cx="2798064" cy="256742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69072"/>
            <a:ext cx="2798064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788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① Quicksort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810139"/>
            <a:ext cx="2587752" cy="20384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Fase inicial de toda ordenação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Divisão recursiva do array em torno de um pivô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Caso médio</a:t>
            </a: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: O(n log n) — muito rápido na prática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Usado até a profundidade de recursão atingir 2·⌊log(n)⌋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Pivô escolhido por mediana de 3 elementos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369072"/>
            <a:ext cx="2798064" cy="256742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69072"/>
            <a:ext cx="2798064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788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② Heapsort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73552" y="1774939"/>
            <a:ext cx="2770632" cy="2073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Ativado quando Quicksort degrada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Garante O(n log n) no pior caso sem exceções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Evita o O(n²) do Quicksort em inputs adversariais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 in-place: sem memória extra além de O(log n)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Menos eficiente na prática, mas confiável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44768" y="1338667"/>
            <a:ext cx="2798064" cy="2567420"/>
          </a:xfrm>
          <a:prstGeom prst="rect">
            <a:avLst/>
          </a:prstGeom>
          <a:solidFill>
            <a:srgbClr val="112233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369072"/>
            <a:ext cx="2798064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4788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D4A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③ Insertion Sort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44768" y="1766184"/>
            <a:ext cx="2807208" cy="2126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Ativado para subvetores com       n ≤ 16 elementos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O(n²), porém com constante muito baixa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Excelente desempenho em arrays quase ordenados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Aproveita localidade de cache de forma eficiente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CAE0F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Elimina overhead de recursão em partições pequenas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53103" y="2508894"/>
            <a:ext cx="34829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61888" y="2722384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56032" y="4119073"/>
            <a:ext cx="8686800" cy="443856"/>
          </a:xfrm>
          <a:prstGeom prst="rect">
            <a:avLst/>
          </a:prstGeom>
          <a:solidFill>
            <a:srgbClr val="06122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112533"/>
            <a:ext cx="8656394" cy="45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kumimoji="0" 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Inicia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0E0E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com Quicksort → se profundidade excede 2·log(n), troca para Heapsort → para partições ≤ 16 elementos, usa Insertion Sort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870039" y="2527991"/>
            <a:ext cx="34829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23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48943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INTROSORT</a:t>
            </a:r>
            <a:endParaRPr lang="pt-BR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360360" y="46206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err="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Introsort</a:t>
            </a:r>
            <a:r>
              <a:rPr lang="en-US" sz="2800" b="1" strike="noStrike" spc="-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 — </a:t>
            </a:r>
            <a:r>
              <a:rPr lang="en-US" sz="2800" b="1" strike="noStrike" spc="-1" err="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Complexidade</a:t>
            </a:r>
            <a:r>
              <a:rPr lang="en-US" sz="2800" b="1" strike="noStrike" spc="-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 &amp; </a:t>
            </a:r>
            <a:r>
              <a:rPr lang="en-US" sz="2800" b="1" strike="noStrike" spc="-1" err="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Características</a:t>
            </a:r>
            <a:endParaRPr lang="pt-BR" sz="2800" b="0" strike="noStrike" spc="-1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360000" y="1005120"/>
            <a:ext cx="8412480" cy="360"/>
          </a:xfrm>
          <a:prstGeom prst="line">
            <a:avLst/>
          </a:prstGeom>
          <a:ln w="1905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360000" y="1080000"/>
            <a:ext cx="2925720" cy="1828440"/>
          </a:xfrm>
          <a:prstGeom prst="rect">
            <a:avLst/>
          </a:prstGeom>
          <a:solidFill>
            <a:srgbClr val="1B2E4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365580" y="112363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00D4AA"/>
                </a:solidFill>
                <a:latin typeface="Consolas"/>
                <a:ea typeface="Consolas"/>
              </a:rPr>
              <a:t>O(n log n)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360000" y="1990100"/>
            <a:ext cx="29257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GARANTIDO NO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  <a:ea typeface="Calibri"/>
              </a:rPr>
              <a:t>PIOR CASO</a:t>
            </a: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3420000" y="1080000"/>
            <a:ext cx="25599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8"/>
          <p:cNvSpPr/>
          <p:nvPr/>
        </p:nvSpPr>
        <p:spPr>
          <a:xfrm>
            <a:off x="3420000" y="1080000"/>
            <a:ext cx="2559960" cy="63720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3611880" y="11203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2E40"/>
                </a:solidFill>
                <a:latin typeface="Calibri"/>
                <a:ea typeface="Calibri"/>
              </a:rPr>
              <a:t>Vantagens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3611880" y="1440000"/>
            <a:ext cx="2285640" cy="10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Sem pior caso O(n²) do Quicksort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In-place — O(log n) de memória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Rápido na prática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1"/>
          <p:cNvSpPr/>
          <p:nvPr/>
        </p:nvSpPr>
        <p:spPr>
          <a:xfrm>
            <a:off x="6260040" y="1080000"/>
            <a:ext cx="25599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763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6260040" y="1080000"/>
            <a:ext cx="2559960" cy="63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6355080" y="1260000"/>
            <a:ext cx="2285640" cy="1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6B35"/>
                </a:solidFill>
                <a:latin typeface="Calibri"/>
                <a:ea typeface="Calibri"/>
              </a:rPr>
              <a:t>Limitações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6355080" y="1440000"/>
            <a:ext cx="2285640" cy="10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Instável (não preserva ordem relativa)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Implementação mais complexa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B2E40"/>
              </a:buClr>
              <a:buFont typeface="Symbol" charset="2"/>
              <a:buChar char=""/>
            </a:pPr>
            <a:r>
              <a:rPr lang="en-US" sz="1150" b="0" strike="noStrike" spc="-1">
                <a:solidFill>
                  <a:srgbClr val="1B2E40"/>
                </a:solidFill>
                <a:latin typeface="Calibri"/>
                <a:ea typeface="Calibri"/>
              </a:rPr>
              <a:t>Difícil tunar os thresholds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67" name="Chart 0"/>
          <p:cNvGraphicFramePr/>
          <p:nvPr/>
        </p:nvGraphicFramePr>
        <p:xfrm>
          <a:off x="365760" y="3123720"/>
          <a:ext cx="8412120" cy="19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Retângulo 1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/>
              <a:t>24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HISTÓRIA — INTROSORT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Book Antiqua" panose="02040602050305030304" pitchFamily="18" charset="0"/>
                <a:ea typeface="Calibri" pitchFamily="34" charset="-122"/>
                <a:cs typeface="Calibri" pitchFamily="34" charset="-120"/>
              </a:rPr>
              <a:t>Introsort — Adoção e Legado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 Antiqua" panose="0204060205030503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96C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 artigo acadêmico ao padrão de facto da indústria de software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1905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75888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40096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004304" y="1901952"/>
            <a:ext cx="109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6420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rupo 33"/>
          <p:cNvGrpSpPr/>
          <p:nvPr/>
        </p:nvGrpSpPr>
        <p:grpSpPr>
          <a:xfrm>
            <a:off x="457200" y="2139696"/>
            <a:ext cx="8211312" cy="420624"/>
            <a:chOff x="457200" y="2176272"/>
            <a:chExt cx="8211312" cy="420624"/>
          </a:xfrm>
        </p:grpSpPr>
        <p:sp>
          <p:nvSpPr>
            <p:cNvPr id="9" name="Text 7"/>
            <p:cNvSpPr/>
            <p:nvPr/>
          </p:nvSpPr>
          <p:spPr>
            <a:xfrm>
              <a:off x="457200" y="2176272"/>
              <a:ext cx="155448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1B2E4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Musser publica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anose="020F050202020403020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1B2E4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 Introsort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2121408" y="2176272"/>
              <a:ext cx="155448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1B2E4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SGI adota na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anose="020F050202020403020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1B2E4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STL do C++</a:t>
              </a:r>
              <a:endPara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785616" y="2176272"/>
              <a:ext cx="155448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GCC e MSVC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usam std::sort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5449824" y="2176272"/>
              <a:ext cx="1554480" cy="39319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Java usa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Timsort (variante)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7114032" y="2176272"/>
              <a:ext cx="1554480" cy="4206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Padrão em</a:t>
              </a:r>
            </a:p>
            <a:p>
              <a:pPr algn="ctr">
                <a:defRPr/>
              </a:pPr>
              <a:r>
                <a:rPr lang="en-US" sz="1100" b="1">
                  <a:solidFill>
                    <a:srgbClr val="1B2E4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C++, Rust, Swift</a:t>
              </a:r>
            </a:p>
          </p:txBody>
        </p:sp>
      </p:grpSp>
      <p:sp>
        <p:nvSpPr>
          <p:cNvPr id="26" name="Shape 24"/>
          <p:cNvSpPr/>
          <p:nvPr/>
        </p:nvSpPr>
        <p:spPr>
          <a:xfrm>
            <a:off x="3657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33472"/>
            <a:ext cx="4069080" cy="64008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Onde ele é usado hoje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C++ std::sort: toda chamada a sort() em C++ usa Introsort (desde C++11 obrigatoriamente O(n log n))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Rust: a função sort_unstable() usa PDQsort — evolução direta do Introsort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Swift: Array.sort() usa uma variante do Introsort otimizada para hardware Apple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.NET: Array.Sort() usa Introsort com otimizações para tipos primitivos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2633472"/>
            <a:ext cx="40690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33472"/>
            <a:ext cx="40690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432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Legado e Variantes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3127248"/>
            <a:ext cx="37947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PDQsort (Pattern-Defeating Quicksort, 2021): sucessor moderno com detecção de padrões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Timsort (Python, Java): combina Merge Sort + Insertion Sort para dados do mundo real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Musser provou que algoritmos podem ser "inteligentes" — monitorar e adaptar a si mesmos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2E4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algoritmos adaptativos tornou-se área de pesquisa ativa em ciência da computação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/>
              <a:t>25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74715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59850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502740"/>
            <a:ext cx="7310568" cy="411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Implementação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</a:t>
            </a: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em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C— </a:t>
            </a: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IntroSort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</a:t>
            </a:r>
            <a:r>
              <a:rPr kumimoji="0" lang="en-US" sz="3200" b="1" i="0" u="none" strike="noStrike" kern="1200" cap="none" spc="-1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em</a:t>
            </a:r>
            <a:r>
              <a:rPr kumimoji="0" lang="en-US" sz="3200" b="1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ook Antiqua" panose="02040602050305030304" pitchFamily="18" charset="0"/>
                <a:ea typeface="Calibri"/>
                <a:cs typeface="+mn-cs"/>
              </a:rPr>
              <a:t> C</a:t>
            </a:r>
            <a:endParaRPr kumimoji="0" lang="pt-BR" sz="32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sp>
        <p:nvSpPr>
          <p:cNvPr id="272" name="Shape 4"/>
          <p:cNvSpPr/>
          <p:nvPr/>
        </p:nvSpPr>
        <p:spPr>
          <a:xfrm>
            <a:off x="365400" y="1023362"/>
            <a:ext cx="8412120" cy="3912820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3" name="Text 5"/>
          <p:cNvSpPr/>
          <p:nvPr/>
        </p:nvSpPr>
        <p:spPr>
          <a:xfrm>
            <a:off x="640080" y="1097280"/>
            <a:ext cx="786348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void introsort_util(int* lista, int ini, int fim, int depth)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if (fim - ini &lt; 16) {          // particao pequena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insertion_sort(lista, ini, fim); return;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if (depth == 0) {               // recursao profunda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heap_sort(lista, ini, fim); return;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// caso geral: Quick Sort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 p = partition(lista, ini, fim);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introsort_util(lista, ini, p-1, depth-1);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introsort_util(lista, p+1, fim, depth-1);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void intro_sort(int* lista, int n) {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98FB9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 depth = 2 * log(n);   // limite de recursao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introsort_util(lista, 0, n-1, depth);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-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26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6490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/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8" name="Shape 0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65760" y="204952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00" b="1" i="0" u="none" strike="noStrike" kern="1200" cap="none" spc="-1" normalizeH="0" baseline="0" noProof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 / DEMO</a:t>
            </a:r>
            <a:endParaRPr kumimoji="0" lang="pt-BR" sz="9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0" name="Text 2"/>
          <p:cNvSpPr/>
          <p:nvPr/>
        </p:nvSpPr>
        <p:spPr>
          <a:xfrm>
            <a:off x="365400" y="499014"/>
            <a:ext cx="8412480" cy="406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  <a:defRPr/>
            </a:pPr>
            <a:r>
              <a:rPr lang="pt-BR" sz="2000" b="1" spc="-1">
                <a:solidFill>
                  <a:srgbClr val="FFFFFF"/>
                </a:solidFill>
                <a:latin typeface="Book Antiqua" panose="02040602050305030304" pitchFamily="18" charset="0"/>
                <a:ea typeface="Calibri"/>
              </a:rPr>
              <a:t>Algoritmos de Ordenação — Tempo Médio por Cenário de Entrada (C)</a:t>
            </a:r>
          </a:p>
        </p:txBody>
      </p:sp>
      <p:sp>
        <p:nvSpPr>
          <p:cNvPr id="272" name="Shape 4"/>
          <p:cNvSpPr/>
          <p:nvPr/>
        </p:nvSpPr>
        <p:spPr>
          <a:xfrm>
            <a:off x="365760" y="1216634"/>
            <a:ext cx="8476514" cy="3533339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27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pic>
        <p:nvPicPr>
          <p:cNvPr id="7" name="Imagem 6" descr="Tabela&#10;&#10;O conteúdo gerado por IA pode estar incorre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00" y="1218185"/>
            <a:ext cx="8412480" cy="35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792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0"/>
            <a:ext cx="8451849" cy="514350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28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183161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82D5B-26B5-D126-640F-17A99A8A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3">
            <a:extLst>
              <a:ext uri="{FF2B5EF4-FFF2-40B4-BE49-F238E27FC236}">
                <a16:creationId xmlns:a16="http://schemas.microsoft.com/office/drawing/2014/main" id="{83FDB4B4-3468-8E78-F3BE-AA528A904599}"/>
              </a:ext>
            </a:extLst>
          </p:cNvPr>
          <p:cNvSpPr/>
          <p:nvPr/>
        </p:nvSpPr>
        <p:spPr>
          <a:xfrm>
            <a:off x="365400" y="955677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2" name="Shape 4">
            <a:extLst>
              <a:ext uri="{FF2B5EF4-FFF2-40B4-BE49-F238E27FC236}">
                <a16:creationId xmlns:a16="http://schemas.microsoft.com/office/drawing/2014/main" id="{3EEA191A-C8F3-97BB-2EE2-F2F324AFBC40}"/>
              </a:ext>
            </a:extLst>
          </p:cNvPr>
          <p:cNvSpPr/>
          <p:nvPr/>
        </p:nvSpPr>
        <p:spPr>
          <a:xfrm>
            <a:off x="365760" y="416650"/>
            <a:ext cx="8484678" cy="4300436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DB2B5E-5A09-0F1B-99E6-549695B5AF60}"/>
              </a:ext>
            </a:extLst>
          </p:cNvPr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29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pic>
        <p:nvPicPr>
          <p:cNvPr id="2" name="Imagem 1" descr="Linha do tempo&#10;&#10;O conteúdo gerado por IA pode estar incorreto.">
            <a:extLst>
              <a:ext uri="{FF2B5EF4-FFF2-40B4-BE49-F238E27FC236}">
                <a16:creationId xmlns:a16="http://schemas.microsoft.com/office/drawing/2014/main" id="{C71DD759-4746-65F9-6C87-63D2AF0CC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74" y="395287"/>
            <a:ext cx="835165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29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07" y="16386"/>
            <a:ext cx="8445777" cy="5127113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30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8788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1B2E40"/>
          </a:solidFill>
          <a:ln w="12700">
            <a:solidFill>
              <a:srgbClr val="1B2E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chemeClr val="bg1"/>
                </a:solidFill>
                <a:latin typeface="Calibri"/>
              </a:rPr>
              <a:t>COMPARAÇÃO</a:t>
            </a:r>
            <a:endParaRPr lang="pt-BR" sz="900" b="0" strike="noStrike" spc="-1">
              <a:solidFill>
                <a:schemeClr val="bg1"/>
              </a:solidFill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2820112" y="100620"/>
            <a:ext cx="3503776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 err="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Comparação</a:t>
            </a:r>
            <a:r>
              <a:rPr lang="en-US" sz="3200" b="1" strike="noStrike" spc="-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 </a:t>
            </a:r>
            <a:r>
              <a:rPr lang="en-US" sz="3200" b="1" strike="noStrike" spc="-1" err="1">
                <a:solidFill>
                  <a:srgbClr val="0D1B2A"/>
                </a:solidFill>
                <a:latin typeface="Book Antiqua" panose="02040602050305030304" pitchFamily="18" charset="0"/>
                <a:ea typeface="Calibri"/>
              </a:rPr>
              <a:t>Geral</a:t>
            </a:r>
            <a:endParaRPr lang="en-US" sz="3200" b="1" strike="noStrike" spc="-1">
              <a:solidFill>
                <a:srgbClr val="0D1B2A"/>
              </a:solidFill>
              <a:latin typeface="Book Antiqua" panose="02040602050305030304" pitchFamily="18" charset="0"/>
              <a:ea typeface="Calibri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366120" y="648900"/>
            <a:ext cx="8412480" cy="360"/>
          </a:xfrm>
          <a:prstGeom prst="line">
            <a:avLst/>
          </a:prstGeom>
          <a:ln w="1905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1" name="Table 0"/>
          <p:cNvGraphicFramePr/>
          <p:nvPr>
            <p:extLst>
              <p:ext uri="{D42A27DB-BD31-4B8C-83A1-F6EECF244321}">
                <p14:modId xmlns:p14="http://schemas.microsoft.com/office/powerpoint/2010/main" val="2820683904"/>
              </p:ext>
            </p:extLst>
          </p:nvPr>
        </p:nvGraphicFramePr>
        <p:xfrm>
          <a:off x="365760" y="770725"/>
          <a:ext cx="8412481" cy="415272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723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109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CARACTERÍSTICAS</a:t>
                      </a:r>
                      <a:endParaRPr lang="pt-BR" sz="1400" b="1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+mn-lt"/>
                          <a:ea typeface="Calibri"/>
                        </a:rPr>
                        <a:t>COUNTING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RADIX</a:t>
                      </a:r>
                      <a:r>
                        <a:rPr lang="en-US" sz="1400" b="1" strike="noStrike" spc="-1" baseline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 SORT</a:t>
                      </a:r>
                      <a:endParaRPr lang="pt-BR" sz="1400" b="1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INTRO</a:t>
                      </a:r>
                      <a:r>
                        <a:rPr lang="en-US" sz="1400" b="1" strike="noStrike" spc="-1" baseline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 SORT</a:t>
                      </a:r>
                      <a:endParaRPr lang="pt-BR" sz="1400" b="1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Tipo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kern="1200" spc="-1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Não-comparativo</a:t>
                      </a:r>
                      <a:endParaRPr lang="pt-BR" sz="1200" b="0" strike="noStrike" kern="1200" spc="-1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Não-comparativo</a:t>
                      </a:r>
                      <a:endParaRPr lang="pt-BR" sz="1200" b="0" strike="noStrike" kern="1200" spc="-1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kern="1200" spc="-1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Comparativo</a:t>
                      </a:r>
                      <a:r>
                        <a:rPr lang="en-US" sz="1200" b="0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1200" b="0" strike="noStrike" kern="1200" spc="-1" err="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Híbrido</a:t>
                      </a:r>
                      <a:endParaRPr lang="pt-BR" sz="1200" b="0" strike="noStrike" kern="1200" spc="-1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Melhor</a:t>
                      </a:r>
                      <a:r>
                        <a:rPr lang="pt-BR" sz="1200" b="0" i="0" strike="noStrike" spc="-1" baseline="0">
                          <a:solidFill>
                            <a:srgbClr val="000000"/>
                          </a:solidFill>
                          <a:latin typeface="Arial"/>
                        </a:rPr>
                        <a:t> Caso</a:t>
                      </a:r>
                      <a:endParaRPr lang="pt-BR" sz="1200" b="0" i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O(n +k)</a:t>
                      </a:r>
                      <a:endParaRPr lang="pt-BR" sz="1200" b="1" i="1" strike="noStrike" spc="-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O(d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log n)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Caso</a:t>
                      </a:r>
                      <a:r>
                        <a:rPr lang="pt-BR" sz="1200" b="0" i="0" strike="noStrike" spc="-1" baseline="0">
                          <a:solidFill>
                            <a:srgbClr val="000000"/>
                          </a:solidFill>
                          <a:latin typeface="Arial"/>
                        </a:rPr>
                        <a:t> Médio</a:t>
                      </a:r>
                      <a:endParaRPr lang="pt-BR" sz="1200" b="0" i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+ 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O(d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Pior Caso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+ 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O(d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4367"/>
                  </a:ext>
                </a:extLst>
              </a:tr>
              <a:tr h="436541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Espaço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+ 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O(n + 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i="1" kern="12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O(log</a:t>
                      </a:r>
                      <a:r>
                        <a:rPr lang="pt-BR" sz="1200" b="1" i="1" kern="1200" baseline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n)</a:t>
                      </a:r>
                      <a:endParaRPr lang="pt-BR" sz="1200" b="1" i="1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416732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Estável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16A34A"/>
                          </a:solidFill>
                          <a:latin typeface="+mn-lt"/>
                          <a:ea typeface="Calibri"/>
                        </a:rPr>
                        <a:t>✓ Sim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16A34A"/>
                          </a:solidFill>
                          <a:latin typeface="+mn-lt"/>
                          <a:ea typeface="Calibri"/>
                        </a:rPr>
                        <a:t>✓ Sim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143684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In-p</a:t>
                      </a:r>
                      <a:r>
                        <a:rPr lang="pt-BR" sz="1200" b="0" i="0" strike="noStrike" spc="-1" baseline="0">
                          <a:solidFill>
                            <a:srgbClr val="000000"/>
                          </a:solidFill>
                          <a:latin typeface="Arial"/>
                        </a:rPr>
                        <a:t>lace</a:t>
                      </a:r>
                      <a:endParaRPr lang="pt-BR" sz="1200" b="0" i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16A34A"/>
                          </a:solidFill>
                          <a:latin typeface="+mn-lt"/>
                          <a:ea typeface="Calibri"/>
                        </a:rPr>
                        <a:t>✓ Sim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651009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Adapt. Crescente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>
                          <a:solidFill>
                            <a:srgbClr val="16A34A"/>
                          </a:solidFill>
                          <a:latin typeface="+mn-lt"/>
                          <a:ea typeface="Calibri"/>
                        </a:rPr>
                        <a:t>✓ Sim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151517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Adapt. Decrescente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✗ </a:t>
                      </a:r>
                      <a:r>
                        <a:rPr lang="en-US" sz="1200" b="1" strike="noStrike" spc="-1" err="1">
                          <a:solidFill>
                            <a:srgbClr val="DC2626"/>
                          </a:solidFill>
                          <a:latin typeface="+mn-lt"/>
                          <a:ea typeface="Calibri"/>
                        </a:rPr>
                        <a:t>Não</a:t>
                      </a:r>
                      <a:endParaRPr lang="pt-BR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1" strike="noStrike" spc="-1" err="1">
                          <a:solidFill>
                            <a:srgbClr val="FF6B35"/>
                          </a:solidFill>
                          <a:latin typeface="+mn-lt"/>
                          <a:ea typeface="Calibri"/>
                        </a:rPr>
                        <a:t>Parcial</a:t>
                      </a:r>
                      <a:endParaRPr lang="pt-BR" sz="1200" b="0" strike="noStrike" spc="-1">
                        <a:solidFill>
                          <a:srgbClr val="FF6B35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222101"/>
                  </a:ext>
                </a:extLst>
              </a:tr>
              <a:tr h="362109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i="0" strike="noStrike" spc="-1">
                          <a:solidFill>
                            <a:srgbClr val="000000"/>
                          </a:solidFill>
                          <a:latin typeface="Arial"/>
                        </a:rPr>
                        <a:t>Quando Usar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k ≪ n, estabilidade crítica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d pequeno, k &gt; n</a:t>
                      </a:r>
                    </a:p>
                  </a:txBody>
                  <a:tcPr marL="82550" marR="825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pt-BR" sz="1200" b="0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Dados arbitrários,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pt-BR" sz="1200" b="0" strike="noStrike" kern="1200" spc="-1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pior caso crítico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848715"/>
                  </a:ext>
                </a:extLst>
              </a:tr>
            </a:tbl>
          </a:graphicData>
        </a:graphic>
      </p:graphicFrame>
      <p:sp>
        <p:nvSpPr>
          <p:cNvPr id="8" name="Retângulo 7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/>
              <a:t>31</a:t>
            </a:r>
            <a:endParaRPr lang="pt-BR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0"/>
            <a:ext cx="8353316" cy="508735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32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3600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81A15-F96A-7096-4654-7ABF492B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2">
            <a:extLst>
              <a:ext uri="{FF2B5EF4-FFF2-40B4-BE49-F238E27FC236}">
                <a16:creationId xmlns:a16="http://schemas.microsoft.com/office/drawing/2014/main" id="{7E9EB0DB-4B5B-DECA-26FA-458430C7CF88}"/>
              </a:ext>
            </a:extLst>
          </p:cNvPr>
          <p:cNvSpPr/>
          <p:nvPr/>
        </p:nvSpPr>
        <p:spPr>
          <a:xfrm>
            <a:off x="920571" y="110855"/>
            <a:ext cx="7310568" cy="411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  <a:defRPr/>
            </a:pPr>
            <a:r>
              <a:rPr lang="en-US" b="1" spc="-1">
                <a:solidFill>
                  <a:srgbClr val="FFFFFF"/>
                </a:solidFill>
                <a:latin typeface="Book Antiqua"/>
                <a:ea typeface="Calibri"/>
              </a:rPr>
              <a:t>Tempo de </a:t>
            </a:r>
            <a:r>
              <a:rPr lang="en-US" b="1" spc="-1" err="1">
                <a:solidFill>
                  <a:srgbClr val="FFFFFF"/>
                </a:solidFill>
                <a:latin typeface="Book Antiqua"/>
                <a:ea typeface="Calibri"/>
              </a:rPr>
              <a:t>execução</a:t>
            </a:r>
            <a:r>
              <a:rPr lang="en-US" b="1" spc="-1">
                <a:solidFill>
                  <a:srgbClr val="FFFFFF"/>
                </a:solidFill>
                <a:latin typeface="Book Antiqua"/>
                <a:ea typeface="Calibri"/>
              </a:rPr>
              <a:t> - C (</a:t>
            </a:r>
            <a:r>
              <a:rPr lang="en-US" b="1" spc="-1" err="1">
                <a:solidFill>
                  <a:srgbClr val="FFFFFF"/>
                </a:solidFill>
                <a:latin typeface="Book Antiqua"/>
                <a:ea typeface="Calibri"/>
              </a:rPr>
              <a:t>porcentagem</a:t>
            </a:r>
            <a:r>
              <a:rPr lang="en-US" b="1" spc="-1">
                <a:solidFill>
                  <a:srgbClr val="FFFFFF"/>
                </a:solidFill>
                <a:latin typeface="Book Antiqua"/>
                <a:ea typeface="Calibri"/>
              </a:rPr>
              <a:t>)</a:t>
            </a:r>
            <a:endParaRPr lang="en-US" b="1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 pitchFamily="18" charset="0"/>
              <a:ea typeface="Calibri"/>
            </a:endParaRPr>
          </a:p>
        </p:txBody>
      </p:sp>
      <p:sp>
        <p:nvSpPr>
          <p:cNvPr id="272" name="Shape 4">
            <a:extLst>
              <a:ext uri="{FF2B5EF4-FFF2-40B4-BE49-F238E27FC236}">
                <a16:creationId xmlns:a16="http://schemas.microsoft.com/office/drawing/2014/main" id="{81237886-DF3C-9D24-A702-C599DC34C1E2}"/>
              </a:ext>
            </a:extLst>
          </p:cNvPr>
          <p:cNvSpPr/>
          <p:nvPr/>
        </p:nvSpPr>
        <p:spPr>
          <a:xfrm>
            <a:off x="683807" y="998870"/>
            <a:ext cx="7775306" cy="3912820"/>
          </a:xfrm>
          <a:prstGeom prst="rect">
            <a:avLst/>
          </a:prstGeom>
          <a:solidFill>
            <a:srgbClr val="0A0F1A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DDE54C3-D24D-E756-A98B-655F4268F6AE}"/>
              </a:ext>
            </a:extLst>
          </p:cNvPr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33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  <p:pic>
        <p:nvPicPr>
          <p:cNvPr id="2" name="Imagem 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1238B981-A757-F0C9-DBCB-A0E235B5E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91" y="730022"/>
            <a:ext cx="8331653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30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98" y="0"/>
            <a:ext cx="8466404" cy="5143499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34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77101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365760" y="22860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B2A"/>
                </a:solidFill>
                <a:latin typeface="Calibri"/>
              </a:rPr>
              <a:t>CONCLUSÃO</a:t>
            </a:r>
            <a:endParaRPr lang="pt-BR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457200" y="4493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 err="1">
                <a:solidFill>
                  <a:srgbClr val="FFFFFF"/>
                </a:solidFill>
                <a:latin typeface="Book Antiqua" panose="02040602050305030304" pitchFamily="18" charset="0"/>
                <a:ea typeface="Calibri"/>
              </a:rPr>
              <a:t>Conclusão</a:t>
            </a:r>
            <a:endParaRPr lang="pt-BR" sz="3400" b="0" strike="noStrike" spc="-1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286" name="Shape 3"/>
          <p:cNvSpPr/>
          <p:nvPr/>
        </p:nvSpPr>
        <p:spPr>
          <a:xfrm>
            <a:off x="319680" y="1026105"/>
            <a:ext cx="8412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74320" y="1309840"/>
            <a:ext cx="8595000" cy="3291480"/>
            <a:chOff x="365760" y="1051560"/>
            <a:chExt cx="8595000" cy="3291480"/>
          </a:xfrm>
        </p:grpSpPr>
        <p:sp>
          <p:nvSpPr>
            <p:cNvPr id="287" name="Shape 4"/>
            <p:cNvSpPr/>
            <p:nvPr/>
          </p:nvSpPr>
          <p:spPr>
            <a:xfrm>
              <a:off x="365760" y="1051560"/>
              <a:ext cx="2742840" cy="2011320"/>
            </a:xfrm>
            <a:prstGeom prst="rect">
              <a:avLst/>
            </a:prstGeom>
            <a:solidFill>
              <a:srgbClr val="112233"/>
            </a:solidFill>
            <a:ln w="0">
              <a:noFill/>
            </a:ln>
            <a:effectLst>
              <a:outerShdw blurRad="101520" dist="37674" dir="8100000" algn="bl" rotWithShape="0">
                <a:srgbClr val="000000">
                  <a:alpha val="3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8" name="Shape 5"/>
            <p:cNvSpPr/>
            <p:nvPr/>
          </p:nvSpPr>
          <p:spPr>
            <a:xfrm>
              <a:off x="365760" y="1051560"/>
              <a:ext cx="2742840" cy="54360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Text 6"/>
            <p:cNvSpPr/>
            <p:nvPr/>
          </p:nvSpPr>
          <p:spPr>
            <a:xfrm>
              <a:off x="502920" y="1143000"/>
              <a:ext cx="246852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strike="noStrike" spc="-1">
                  <a:solidFill>
                    <a:srgbClr val="00B4D8"/>
                  </a:solidFill>
                  <a:latin typeface="Calibri"/>
                  <a:ea typeface="Calibri"/>
                </a:rPr>
                <a:t>Counting Sort</a:t>
              </a:r>
              <a:endParaRPr lang="pt-BR" sz="13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0" name="Text 7"/>
            <p:cNvSpPr/>
            <p:nvPr/>
          </p:nvSpPr>
          <p:spPr>
            <a:xfrm>
              <a:off x="502920" y="1508760"/>
              <a:ext cx="2468520" cy="14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Use quando os dados são inteiros em intervalo reduzido. Linear e simples.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1" name="Shape 8"/>
            <p:cNvSpPr/>
            <p:nvPr/>
          </p:nvSpPr>
          <p:spPr>
            <a:xfrm>
              <a:off x="3291840" y="1051560"/>
              <a:ext cx="2742840" cy="2011320"/>
            </a:xfrm>
            <a:prstGeom prst="rect">
              <a:avLst/>
            </a:prstGeom>
            <a:solidFill>
              <a:srgbClr val="112233"/>
            </a:solidFill>
            <a:ln w="0">
              <a:noFill/>
            </a:ln>
            <a:effectLst>
              <a:outerShdw blurRad="101520" dist="37674" dir="8100000" algn="bl" rotWithShape="0">
                <a:srgbClr val="000000">
                  <a:alpha val="3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2" name="Shape 9"/>
            <p:cNvSpPr/>
            <p:nvPr/>
          </p:nvSpPr>
          <p:spPr>
            <a:xfrm>
              <a:off x="3291840" y="1051560"/>
              <a:ext cx="2742840" cy="54360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3" name="Text 10"/>
            <p:cNvSpPr/>
            <p:nvPr/>
          </p:nvSpPr>
          <p:spPr>
            <a:xfrm>
              <a:off x="3429000" y="1143000"/>
              <a:ext cx="246852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strike="noStrike" spc="-1">
                  <a:solidFill>
                    <a:srgbClr val="FF6B35"/>
                  </a:solidFill>
                  <a:latin typeface="Calibri"/>
                  <a:ea typeface="Calibri"/>
                </a:rPr>
                <a:t>Radix Sort</a:t>
              </a:r>
              <a:endParaRPr lang="pt-BR" sz="13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4" name="Text 11"/>
            <p:cNvSpPr/>
            <p:nvPr/>
          </p:nvSpPr>
          <p:spPr>
            <a:xfrm>
              <a:off x="3429000" y="1508760"/>
              <a:ext cx="2468520" cy="14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Ideal para grandes volumes com comprimento de dígitos uniforme (CPF, IDs).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5" name="Shape 12"/>
            <p:cNvSpPr/>
            <p:nvPr/>
          </p:nvSpPr>
          <p:spPr>
            <a:xfrm>
              <a:off x="6217920" y="1051560"/>
              <a:ext cx="2742840" cy="2011320"/>
            </a:xfrm>
            <a:prstGeom prst="rect">
              <a:avLst/>
            </a:prstGeom>
            <a:solidFill>
              <a:srgbClr val="112233"/>
            </a:solidFill>
            <a:ln w="0">
              <a:noFill/>
            </a:ln>
            <a:effectLst>
              <a:outerShdw blurRad="101520" dist="37674" dir="8100000" algn="bl" rotWithShape="0">
                <a:srgbClr val="000000">
                  <a:alpha val="3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6" name="Shape 13"/>
            <p:cNvSpPr/>
            <p:nvPr/>
          </p:nvSpPr>
          <p:spPr>
            <a:xfrm>
              <a:off x="6217920" y="1051560"/>
              <a:ext cx="2742840" cy="54360"/>
            </a:xfrm>
            <a:prstGeom prst="rect">
              <a:avLst/>
            </a:prstGeom>
            <a:solidFill>
              <a:srgbClr val="00D4AA"/>
            </a:solidFill>
            <a:ln w="12700">
              <a:solidFill>
                <a:srgbClr val="00D4A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7" name="Text 14"/>
            <p:cNvSpPr/>
            <p:nvPr/>
          </p:nvSpPr>
          <p:spPr>
            <a:xfrm>
              <a:off x="6355080" y="1143000"/>
              <a:ext cx="246852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strike="noStrike" spc="-1">
                  <a:solidFill>
                    <a:srgbClr val="00D4AA"/>
                  </a:solidFill>
                  <a:latin typeface="Calibri"/>
                  <a:ea typeface="Calibri"/>
                </a:rPr>
                <a:t>Introsort</a:t>
              </a:r>
              <a:endParaRPr lang="pt-BR" sz="13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Text 15"/>
            <p:cNvSpPr/>
            <p:nvPr/>
          </p:nvSpPr>
          <p:spPr>
            <a:xfrm>
              <a:off x="6355080" y="1508760"/>
              <a:ext cx="2468520" cy="146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Escolha padrão para dados gerais. Robusto, eficiente, sem degeneração.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9" name="Shape 16"/>
            <p:cNvSpPr/>
            <p:nvPr/>
          </p:nvSpPr>
          <p:spPr>
            <a:xfrm>
              <a:off x="365760" y="3200400"/>
              <a:ext cx="8595000" cy="1142640"/>
            </a:xfrm>
            <a:prstGeom prst="rect">
              <a:avLst/>
            </a:prstGeom>
            <a:solidFill>
              <a:srgbClr val="112233"/>
            </a:solidFill>
            <a:ln w="0">
              <a:noFill/>
            </a:ln>
            <a:effectLst>
              <a:outerShdw blurRad="101520" dist="37674" dir="8100000" algn="bl" rotWithShape="0">
                <a:srgbClr val="000000">
                  <a:alpha val="3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0" name="Shape 17"/>
            <p:cNvSpPr/>
            <p:nvPr/>
          </p:nvSpPr>
          <p:spPr>
            <a:xfrm>
              <a:off x="365760" y="3200400"/>
              <a:ext cx="8595000" cy="45719"/>
            </a:xfrm>
            <a:prstGeom prst="rect">
              <a:avLst/>
            </a:prstGeom>
            <a:solidFill>
              <a:srgbClr val="90E0EF"/>
            </a:solidFill>
            <a:ln w="12700">
              <a:solidFill>
                <a:srgbClr val="90E0E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9720" rIns="90000" bIns="9720" anchor="t">
              <a:noAutofit/>
            </a:bodyPr>
            <a:lstStyle/>
            <a:p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1" name="Text 18"/>
            <p:cNvSpPr/>
            <p:nvPr/>
          </p:nvSpPr>
          <p:spPr>
            <a:xfrm>
              <a:off x="502920" y="3291840"/>
              <a:ext cx="813780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strike="noStrike" spc="-1">
                  <a:solidFill>
                    <a:srgbClr val="90E0EF"/>
                  </a:solidFill>
                  <a:latin typeface="Calibri"/>
                  <a:ea typeface="Calibri"/>
                </a:rPr>
                <a:t>Aprendizados</a:t>
              </a:r>
              <a:endParaRPr lang="pt-BR" sz="13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2" name="Text 19"/>
            <p:cNvSpPr/>
            <p:nvPr/>
          </p:nvSpPr>
          <p:spPr>
            <a:xfrm>
              <a:off x="502920" y="3657600"/>
              <a:ext cx="8137800" cy="59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Não existe algoritmo universalmente superior — contexto é tudo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Complexidade teórica ≠ desempenho prático: constantes e cache importam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  <a:p>
              <a:pPr marL="343080" indent="-343080" defTabSz="914400">
                <a:lnSpc>
                  <a:spcPct val="100000"/>
                </a:lnSpc>
                <a:buClr>
                  <a:srgbClr val="CAE0F5"/>
                </a:buClr>
                <a:buFont typeface="Symbol" charset="2"/>
                <a:buChar char=""/>
              </a:pPr>
              <a:r>
                <a:rPr lang="en-US" sz="1150" b="0" strike="noStrike" spc="-1">
                  <a:solidFill>
                    <a:srgbClr val="CAE0F5"/>
                  </a:solidFill>
                  <a:latin typeface="Calibri"/>
                  <a:ea typeface="Calibri"/>
                </a:rPr>
                <a:t>Algoritmos híbridos (Introsort, Timsort) dominam implementações modernas</a:t>
              </a:r>
              <a:endParaRPr lang="pt-BR" sz="115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4" name="Retângulo 23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</a:rPr>
              <a:t>35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061220"/>
          </a:solidFill>
          <a:ln w="12700">
            <a:solidFill>
              <a:srgbClr val="0612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6858000" y="0"/>
            <a:ext cx="45360" cy="5143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7132320" y="3200400"/>
            <a:ext cx="1645560" cy="164556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3"/>
          <p:cNvSpPr/>
          <p:nvPr/>
        </p:nvSpPr>
        <p:spPr>
          <a:xfrm>
            <a:off x="457200" y="731520"/>
            <a:ext cx="5943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FFFFFF"/>
                </a:solidFill>
                <a:latin typeface="Calibri"/>
                <a:ea typeface="Calibri"/>
              </a:rPr>
              <a:t>Obrigado!</a:t>
            </a:r>
            <a:endParaRPr lang="pt-BR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4"/>
          <p:cNvSpPr/>
          <p:nvPr/>
        </p:nvSpPr>
        <p:spPr>
          <a:xfrm>
            <a:off x="502920" y="1783080"/>
            <a:ext cx="2743200" cy="360"/>
          </a:xfrm>
          <a:prstGeom prst="line">
            <a:avLst/>
          </a:prstGeom>
          <a:ln w="254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502920" y="1920240"/>
            <a:ext cx="5943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0B4D8"/>
                </a:solidFill>
                <a:latin typeface="Calibri"/>
                <a:ea typeface="Calibri"/>
              </a:rPr>
              <a:t>Referências</a:t>
            </a:r>
            <a:endParaRPr lang="pt-BR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502920" y="2331720"/>
            <a:ext cx="6126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A8C7E0"/>
                </a:solidFill>
                <a:latin typeface="Calibri"/>
                <a:ea typeface="Calibri"/>
              </a:rPr>
              <a:t>[1] CORMEN, T. H. et al. Introduction to Algorithms. 4. ed. MIT Press, 2022.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502920" y="2807280"/>
            <a:ext cx="6126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A8C7E0"/>
                </a:solidFill>
                <a:latin typeface="Calibri"/>
                <a:ea typeface="Calibri"/>
              </a:rPr>
              <a:t>[2] SEDGEWICK, R.; WAYNE, K. Algorithms. 4. ed. Addison-Wesley, 2011.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8"/>
          <p:cNvSpPr/>
          <p:nvPr/>
        </p:nvSpPr>
        <p:spPr>
          <a:xfrm>
            <a:off x="502920" y="3282840"/>
            <a:ext cx="6126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A8C7E0"/>
                </a:solidFill>
                <a:latin typeface="Calibri"/>
                <a:ea typeface="Calibri"/>
              </a:rPr>
              <a:t>[3] MUSSER, D. R. Introspective Sorting and Selection Algorithms. Software: Practice and Experience, 1997.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502920" y="3758040"/>
            <a:ext cx="61261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A8C7E0"/>
                </a:solidFill>
                <a:latin typeface="Calibri"/>
                <a:ea typeface="Calibri"/>
              </a:rPr>
              <a:t>[4] KNUTH, D. E. The Art of Computer Programming, Vol. 3: Sorting and Searching. Addison-Wesley, 1998.</a:t>
            </a:r>
            <a:endParaRPr lang="pt-BR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8686800" y="4784095"/>
            <a:ext cx="328936" cy="2616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>
                <a:solidFill>
                  <a:srgbClr val="FFFFFF"/>
                </a:solidFill>
                <a:ea typeface="Calibri"/>
                <a:cs typeface="Calibri"/>
              </a:rPr>
              <a:t>36</a:t>
            </a:r>
            <a:endParaRPr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Apresentação na tela (16:9)</PresentationFormat>
  <Slides>36</Slides>
  <Notes>25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36</vt:i4>
      </vt:variant>
    </vt:vector>
  </HeadingPairs>
  <TitlesOfParts>
    <vt:vector size="38" baseType="lpstr"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Counting Sort, Radix Sort e Introsort</dc:title>
  <dc:subject>PptxGenJS Presentation</dc:subject>
  <dc:creator>Algoritmos de Ordenação</dc:creator>
  <dc:description/>
  <cp:revision>2</cp:revision>
  <dcterms:created xsi:type="dcterms:W3CDTF">2026-05-04T01:01:54Z</dcterms:created>
  <dcterms:modified xsi:type="dcterms:W3CDTF">2026-05-17T21:26:28Z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Apresentação no Ecrã (16:9)</vt:lpwstr>
  </property>
  <property fmtid="{D5CDD505-2E9C-101B-9397-08002B2CF9AE}" pid="4" name="Slides">
    <vt:i4>13</vt:i4>
  </property>
</Properties>
</file>